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3"/>
    <p:sldId id="257" r:id="rId4"/>
    <p:sldId id="260" r:id="rId5"/>
    <p:sldId id="259" r:id="rId6"/>
    <p:sldId id="267" r:id="rId7"/>
    <p:sldId id="258" r:id="rId8"/>
    <p:sldId id="261" r:id="rId9"/>
    <p:sldId id="262" r:id="rId10"/>
    <p:sldId id="263"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85" r:id="rId24"/>
    <p:sldId id="286" r:id="rId26"/>
    <p:sldId id="280" r:id="rId27"/>
    <p:sldId id="283" r:id="rId28"/>
    <p:sldId id="287" r:id="rId29"/>
    <p:sldId id="288" r:id="rId30"/>
    <p:sldId id="289" r:id="rId31"/>
    <p:sldId id="290" r:id="rId32"/>
    <p:sldId id="278" r:id="rId33"/>
    <p:sldId id="284" r:id="rId34"/>
    <p:sldId id="281" r:id="rId35"/>
    <p:sldId id="282" r:id="rId36"/>
    <p:sldId id="291" r:id="rId37"/>
  </p:sldIdLst>
  <p:sldSz cx="9144000" cy="6858000" type="screen4x3"/>
  <p:notesSz cx="6858000" cy="9144000"/>
  <p:embeddedFontLst>
    <p:embeddedFont>
      <p:font typeface="Calibri" panose="020F07020304040A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4" d="100"/>
          <a:sy n="94" d="100"/>
        </p:scale>
        <p:origin x="-1278" y="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38A041-1A1D-4D5E-A206-6D4110554B5B}"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F480DC-91CB-434D-8D52-8F06232A706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9F480DC-91CB-434D-8D52-8F06232A7062}"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FC6CE4-EE57-4D78-9D6D-D39B99A625B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FC6CE4-EE57-4D78-9D6D-D39B99A625B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1FC6CE4-EE57-4D78-9D6D-D39B99A625B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01FC6CE4-EE57-4D78-9D6D-D39B99A625B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01FC6CE4-EE57-4D78-9D6D-D39B99A625B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1FC6CE4-EE57-4D78-9D6D-D39B99A625B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FC6CE4-EE57-4D78-9D6D-D39B99A625B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1FC6CE4-EE57-4D78-9D6D-D39B99A625B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1FC6CE4-EE57-4D78-9D6D-D39B99A625B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FC6CE4-EE57-4D78-9D6D-D39B99A625B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1FC6CE4-EE57-4D78-9D6D-D39B99A625B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0FA89-4781-4F00-B3A4-09B63580AF1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C6CE4-EE57-4D78-9D6D-D39B99A625B8}"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FA89-4781-4F00-B3A4-09B63580AF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130425"/>
            <a:ext cx="8763000" cy="2289175"/>
          </a:xfrm>
        </p:spPr>
        <p:txBody>
          <a:bodyPr>
            <a:normAutofit/>
          </a:bodyPr>
          <a:lstStyle/>
          <a:p>
            <a:r>
              <a:rPr lang="en-US" b="1" dirty="0" smtClean="0">
                <a:latin typeface="Perpetua" pitchFamily="18" charset="0"/>
              </a:rPr>
              <a:t>PHA 315</a:t>
            </a:r>
            <a:br>
              <a:rPr lang="en-US" b="1" dirty="0" smtClean="0">
                <a:latin typeface="Perpetua" pitchFamily="18" charset="0"/>
              </a:rPr>
            </a:br>
            <a:r>
              <a:rPr lang="en-US" b="1" dirty="0" smtClean="0">
                <a:latin typeface="Perpetua" pitchFamily="18" charset="0"/>
              </a:rPr>
              <a:t>  ACUTE TOXIC EFFECTS OF SUBSTANCES</a:t>
            </a:r>
            <a:endParaRPr lang="en-US" b="1" dirty="0">
              <a:latin typeface="Perpetua"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Outline</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latin typeface="Perpetua" pitchFamily="18" charset="0"/>
              </a:rPr>
              <a:t>Definition</a:t>
            </a:r>
            <a:endParaRPr lang="en-US" dirty="0" smtClean="0">
              <a:latin typeface="Perpetua" pitchFamily="18" charset="0"/>
            </a:endParaRPr>
          </a:p>
          <a:p>
            <a:r>
              <a:rPr lang="en-US" dirty="0" smtClean="0">
                <a:latin typeface="Perpetua" pitchFamily="18" charset="0"/>
              </a:rPr>
              <a:t>Objectives of </a:t>
            </a:r>
            <a:r>
              <a:rPr lang="en-US" dirty="0" err="1" smtClean="0">
                <a:latin typeface="Perpetua" pitchFamily="18" charset="0"/>
              </a:rPr>
              <a:t>Atox</a:t>
            </a:r>
            <a:endParaRPr lang="en-US" dirty="0" smtClean="0">
              <a:latin typeface="Perpetua" pitchFamily="18" charset="0"/>
            </a:endParaRPr>
          </a:p>
          <a:p>
            <a:r>
              <a:rPr lang="en-US" dirty="0" smtClean="0">
                <a:latin typeface="Perpetua" pitchFamily="18" charset="0"/>
              </a:rPr>
              <a:t>Considerations in </a:t>
            </a:r>
            <a:r>
              <a:rPr lang="en-US" dirty="0" err="1" smtClean="0">
                <a:latin typeface="Perpetua" pitchFamily="18" charset="0"/>
              </a:rPr>
              <a:t>ATox</a:t>
            </a:r>
            <a:endParaRPr lang="en-US" dirty="0" smtClean="0">
              <a:latin typeface="Perpetua" pitchFamily="18" charset="0"/>
            </a:endParaRPr>
          </a:p>
          <a:p>
            <a:r>
              <a:rPr lang="en-US" dirty="0" smtClean="0">
                <a:latin typeface="Perpetua" pitchFamily="18" charset="0"/>
              </a:rPr>
              <a:t>Methods for determination of </a:t>
            </a:r>
            <a:r>
              <a:rPr lang="en-US" dirty="0" err="1" smtClean="0">
                <a:latin typeface="Perpetua" pitchFamily="18" charset="0"/>
              </a:rPr>
              <a:t>ATox</a:t>
            </a:r>
            <a:endParaRPr lang="en-US" dirty="0" smtClean="0">
              <a:latin typeface="Perpetua" pitchFamily="18" charset="0"/>
            </a:endParaRPr>
          </a:p>
          <a:p>
            <a:r>
              <a:rPr lang="en-US" dirty="0" smtClean="0">
                <a:latin typeface="Perpetua" pitchFamily="18" charset="0"/>
              </a:rPr>
              <a:t>Application of acute toxicity (LD</a:t>
            </a:r>
            <a:r>
              <a:rPr lang="en-US" baseline="-25000" dirty="0" smtClean="0">
                <a:latin typeface="Perpetua" pitchFamily="18" charset="0"/>
              </a:rPr>
              <a:t>50</a:t>
            </a:r>
            <a:r>
              <a:rPr lang="en-US" dirty="0" smtClean="0">
                <a:latin typeface="Perpetua" pitchFamily="18" charset="0"/>
              </a:rPr>
              <a:t>) studies</a:t>
            </a:r>
            <a:endParaRPr lang="en-US" dirty="0" smtClean="0">
              <a:latin typeface="Perpetua" pitchFamily="18" charset="0"/>
            </a:endParaRPr>
          </a:p>
          <a:p>
            <a:endParaRPr lang="en-US" dirty="0"/>
          </a:p>
          <a:p>
            <a:pPr marL="0" indent="0">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b="1" dirty="0" smtClean="0">
                <a:latin typeface="Perpetua" pitchFamily="18" charset="0"/>
              </a:rPr>
              <a:t>Definition</a:t>
            </a:r>
            <a:endParaRPr lang="en-US" b="1" dirty="0">
              <a:latin typeface="Perpetua" pitchFamily="18" charset="0"/>
            </a:endParaRPr>
          </a:p>
        </p:txBody>
      </p:sp>
      <p:sp>
        <p:nvSpPr>
          <p:cNvPr id="3" name="Content Placeholder 2"/>
          <p:cNvSpPr>
            <a:spLocks noGrp="1"/>
          </p:cNvSpPr>
          <p:nvPr>
            <p:ph idx="1"/>
          </p:nvPr>
        </p:nvSpPr>
        <p:spPr>
          <a:xfrm>
            <a:off x="457200" y="1219200"/>
            <a:ext cx="8229600" cy="4906963"/>
          </a:xfrm>
        </p:spPr>
        <p:txBody>
          <a:bodyPr>
            <a:normAutofit/>
          </a:bodyPr>
          <a:lstStyle/>
          <a:p>
            <a:r>
              <a:rPr lang="en-US" sz="2400" b="1" dirty="0" smtClean="0">
                <a:latin typeface="Perpetua" pitchFamily="18" charset="0"/>
              </a:rPr>
              <a:t>Acute </a:t>
            </a:r>
            <a:r>
              <a:rPr lang="en-US" sz="2400" b="1" dirty="0">
                <a:latin typeface="Perpetua" pitchFamily="18" charset="0"/>
              </a:rPr>
              <a:t>toxicity</a:t>
            </a:r>
            <a:r>
              <a:rPr lang="en-US" sz="2400" dirty="0">
                <a:latin typeface="Perpetua" pitchFamily="18" charset="0"/>
              </a:rPr>
              <a:t> describes the </a:t>
            </a:r>
            <a:r>
              <a:rPr lang="en-US" sz="2400" dirty="0" smtClean="0">
                <a:latin typeface="Perpetua" pitchFamily="18" charset="0"/>
              </a:rPr>
              <a:t>adverse </a:t>
            </a:r>
            <a:r>
              <a:rPr lang="en-US" sz="2400" dirty="0">
                <a:latin typeface="Perpetua" pitchFamily="18" charset="0"/>
              </a:rPr>
              <a:t>effects resulting from a single exposure to a substance</a:t>
            </a:r>
            <a:r>
              <a:rPr lang="en-US" sz="2400" dirty="0" smtClean="0">
                <a:latin typeface="Perpetua" pitchFamily="18" charset="0"/>
              </a:rPr>
              <a:t>.</a:t>
            </a:r>
            <a:endParaRPr lang="en-US" sz="2400" dirty="0" smtClean="0">
              <a:latin typeface="Perpetua" pitchFamily="18" charset="0"/>
            </a:endParaRPr>
          </a:p>
          <a:p>
            <a:endParaRPr lang="en-US" sz="2400" dirty="0">
              <a:latin typeface="Perpetua" pitchFamily="18" charset="0"/>
            </a:endParaRPr>
          </a:p>
          <a:p>
            <a:r>
              <a:rPr lang="en-US" sz="2400" dirty="0">
                <a:latin typeface="Perpetua" pitchFamily="18" charset="0"/>
              </a:rPr>
              <a:t> </a:t>
            </a:r>
            <a:r>
              <a:rPr lang="en-US" sz="2400" dirty="0" smtClean="0">
                <a:latin typeface="Perpetua" pitchFamily="18" charset="0"/>
              </a:rPr>
              <a:t>*adverse </a:t>
            </a:r>
            <a:r>
              <a:rPr lang="en-US" sz="2400" dirty="0">
                <a:latin typeface="Perpetua" pitchFamily="18" charset="0"/>
              </a:rPr>
              <a:t>effects occurring </a:t>
            </a:r>
            <a:r>
              <a:rPr lang="en-US" sz="2400" dirty="0" smtClean="0">
                <a:latin typeface="Perpetua" pitchFamily="18" charset="0"/>
              </a:rPr>
              <a:t>on oral </a:t>
            </a:r>
            <a:r>
              <a:rPr lang="en-US" sz="2400" dirty="0">
                <a:latin typeface="Perpetua" pitchFamily="18" charset="0"/>
              </a:rPr>
              <a:t>or dermal </a:t>
            </a:r>
            <a:r>
              <a:rPr lang="en-US" sz="2400" dirty="0" smtClean="0">
                <a:latin typeface="Perpetua" pitchFamily="18" charset="0"/>
              </a:rPr>
              <a:t>exposure to a </a:t>
            </a:r>
            <a:r>
              <a:rPr lang="en-US" sz="2400" dirty="0">
                <a:latin typeface="Perpetua" pitchFamily="18" charset="0"/>
              </a:rPr>
              <a:t>single dose of a substance, or multiple doses </a:t>
            </a:r>
            <a:r>
              <a:rPr lang="en-US" sz="2400" dirty="0" smtClean="0">
                <a:latin typeface="Perpetua" pitchFamily="18" charset="0"/>
              </a:rPr>
              <a:t>administered </a:t>
            </a:r>
            <a:r>
              <a:rPr lang="en-US" sz="2400" dirty="0">
                <a:latin typeface="Perpetua" pitchFamily="18" charset="0"/>
              </a:rPr>
              <a:t>within 24 hours, or an inhalation exposure of 4 hours</a:t>
            </a:r>
            <a:r>
              <a:rPr lang="en-US" sz="2400" dirty="0" smtClean="0">
                <a:latin typeface="Perpetua" pitchFamily="18" charset="0"/>
              </a:rPr>
              <a:t>.</a:t>
            </a:r>
            <a:endParaRPr lang="en-US" sz="2400" dirty="0" smtClean="0">
              <a:latin typeface="Perpetua" pitchFamily="18" charset="0"/>
            </a:endParaRPr>
          </a:p>
          <a:p>
            <a:endParaRPr lang="en-US" sz="2400" dirty="0" smtClean="0">
              <a:latin typeface="Perpetua" pitchFamily="18" charset="0"/>
            </a:endParaRPr>
          </a:p>
          <a:p>
            <a:r>
              <a:rPr lang="en-US" sz="2400" dirty="0">
                <a:latin typeface="Perpetua" pitchFamily="18" charset="0"/>
              </a:rPr>
              <a:t>T</a:t>
            </a:r>
            <a:r>
              <a:rPr lang="en-US" sz="2400" dirty="0" smtClean="0">
                <a:latin typeface="Perpetua" pitchFamily="18" charset="0"/>
              </a:rPr>
              <a:t>est </a:t>
            </a:r>
            <a:r>
              <a:rPr lang="en-US" sz="2400" dirty="0">
                <a:latin typeface="Perpetua" pitchFamily="18" charset="0"/>
              </a:rPr>
              <a:t>substance </a:t>
            </a:r>
            <a:r>
              <a:rPr lang="en-US" sz="2400" dirty="0" smtClean="0">
                <a:latin typeface="Perpetua" pitchFamily="18" charset="0"/>
              </a:rPr>
              <a:t>      absorption       distribution     systemic </a:t>
            </a:r>
            <a:r>
              <a:rPr lang="en-US" sz="2400" dirty="0">
                <a:latin typeface="Perpetua" pitchFamily="18" charset="0"/>
              </a:rPr>
              <a:t>adverse </a:t>
            </a:r>
            <a:r>
              <a:rPr lang="en-US" sz="2400" dirty="0" smtClean="0">
                <a:latin typeface="Perpetua" pitchFamily="18" charset="0"/>
              </a:rPr>
              <a:t>effect.</a:t>
            </a:r>
            <a:endParaRPr lang="en-US" sz="2400" dirty="0" smtClean="0">
              <a:latin typeface="Perpetua" pitchFamily="18" charset="0"/>
            </a:endParaRPr>
          </a:p>
        </p:txBody>
      </p:sp>
      <p:cxnSp>
        <p:nvCxnSpPr>
          <p:cNvPr id="5" name="Straight Arrow Connector 4"/>
          <p:cNvCxnSpPr/>
          <p:nvPr/>
        </p:nvCxnSpPr>
        <p:spPr>
          <a:xfrm>
            <a:off x="3200400" y="4648200"/>
            <a:ext cx="3810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5410200" y="4681855"/>
            <a:ext cx="457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7696200" y="4724400"/>
            <a:ext cx="4191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7" name="TextBox 16"/>
          <p:cNvSpPr txBox="1"/>
          <p:nvPr/>
        </p:nvSpPr>
        <p:spPr>
          <a:xfrm>
            <a:off x="762000" y="5486400"/>
            <a:ext cx="7543800" cy="1014730"/>
          </a:xfrm>
          <a:prstGeom prst="rect">
            <a:avLst/>
          </a:prstGeom>
          <a:noFill/>
        </p:spPr>
        <p:txBody>
          <a:bodyPr wrap="square" rtlCol="0">
            <a:spAutoFit/>
          </a:bodyPr>
          <a:lstStyle/>
          <a:p>
            <a:r>
              <a:rPr lang="en-US" sz="2000" b="1" dirty="0" smtClean="0">
                <a:solidFill>
                  <a:srgbClr val="000000"/>
                </a:solidFill>
                <a:latin typeface="Perpetua" pitchFamily="18" charset="0"/>
              </a:rPr>
              <a:t>*It is important  to assess </a:t>
            </a:r>
            <a:r>
              <a:rPr lang="en-US" sz="2000" b="1" dirty="0">
                <a:solidFill>
                  <a:srgbClr val="000000"/>
                </a:solidFill>
                <a:latin typeface="Perpetua" pitchFamily="18" charset="0"/>
              </a:rPr>
              <a:t>the acute toxic </a:t>
            </a:r>
            <a:r>
              <a:rPr lang="en-US" sz="2000" b="1" dirty="0" smtClean="0">
                <a:solidFill>
                  <a:srgbClr val="000000"/>
                </a:solidFill>
                <a:latin typeface="Perpetua" pitchFamily="18" charset="0"/>
              </a:rPr>
              <a:t>potential of </a:t>
            </a:r>
            <a:r>
              <a:rPr lang="en-US" sz="2000" b="1" dirty="0">
                <a:solidFill>
                  <a:srgbClr val="000000"/>
                </a:solidFill>
                <a:latin typeface="Perpetua" pitchFamily="18" charset="0"/>
              </a:rPr>
              <a:t>substances </a:t>
            </a:r>
            <a:r>
              <a:rPr lang="en-US" sz="2000" b="1" dirty="0" smtClean="0">
                <a:solidFill>
                  <a:srgbClr val="000000"/>
                </a:solidFill>
                <a:latin typeface="Perpetua" pitchFamily="18" charset="0"/>
              </a:rPr>
              <a:t>so as to determine the adverse </a:t>
            </a:r>
            <a:r>
              <a:rPr lang="en-US" sz="2000" b="1" dirty="0">
                <a:solidFill>
                  <a:srgbClr val="000000"/>
                </a:solidFill>
                <a:latin typeface="Perpetua" pitchFamily="18" charset="0"/>
              </a:rPr>
              <a:t>effects that </a:t>
            </a:r>
            <a:r>
              <a:rPr lang="en-US" sz="2000" b="1" dirty="0" smtClean="0">
                <a:solidFill>
                  <a:srgbClr val="000000"/>
                </a:solidFill>
                <a:latin typeface="Perpetua" pitchFamily="18" charset="0"/>
              </a:rPr>
              <a:t>may be elicited on exposure.</a:t>
            </a:r>
            <a:endParaRPr lang="en-US" sz="2000" b="1" dirty="0" smtClean="0">
              <a:solidFill>
                <a:srgbClr val="000000"/>
              </a:solidFill>
              <a:latin typeface="Perpetua"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Objectives of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457200" y="1600201"/>
            <a:ext cx="8229600" cy="3810000"/>
          </a:xfrm>
        </p:spPr>
        <p:txBody>
          <a:bodyPr>
            <a:normAutofit/>
          </a:bodyPr>
          <a:lstStyle/>
          <a:p>
            <a:r>
              <a:rPr lang="en-US" sz="3500" dirty="0" smtClean="0">
                <a:latin typeface="Perpetua" pitchFamily="18" charset="0"/>
              </a:rPr>
              <a:t>Essential for determining the potential toxicity of a chemical to humans and *animals.</a:t>
            </a:r>
            <a:endParaRPr lang="en-US" sz="3500" dirty="0" smtClean="0">
              <a:latin typeface="Perpetua" pitchFamily="18" charset="0"/>
            </a:endParaRPr>
          </a:p>
          <a:p>
            <a:r>
              <a:rPr lang="en-US" sz="3500" dirty="0" smtClean="0">
                <a:latin typeface="Perpetua" pitchFamily="18" charset="0"/>
              </a:rPr>
              <a:t>Provides an estimate for </a:t>
            </a:r>
            <a:endParaRPr lang="en-US" sz="3500" dirty="0" smtClean="0">
              <a:latin typeface="Perpetua" pitchFamily="18" charset="0"/>
            </a:endParaRPr>
          </a:p>
          <a:p>
            <a:pPr marL="0" indent="0">
              <a:buNone/>
            </a:pPr>
            <a:r>
              <a:rPr lang="en-US" sz="3500" dirty="0" smtClean="0">
                <a:latin typeface="Perpetua" pitchFamily="18" charset="0"/>
              </a:rPr>
              <a:t>     a. the therapeutic margin and </a:t>
            </a:r>
            <a:endParaRPr lang="en-US" sz="3500" dirty="0" smtClean="0">
              <a:latin typeface="Perpetua" pitchFamily="18" charset="0"/>
            </a:endParaRPr>
          </a:p>
          <a:p>
            <a:pPr marL="0" indent="0">
              <a:buNone/>
            </a:pPr>
            <a:r>
              <a:rPr lang="en-US" sz="3500" dirty="0" smtClean="0">
                <a:latin typeface="Perpetua" pitchFamily="18" charset="0"/>
              </a:rPr>
              <a:t>     b. absolute safety of a drug or chemical</a:t>
            </a:r>
            <a:endParaRPr lang="en-US" sz="3500" dirty="0" smtClean="0">
              <a:latin typeface="Perpetua" pitchFamily="18" charset="0"/>
            </a:endParaRPr>
          </a:p>
          <a:p>
            <a:endParaRPr lang="en-US" dirty="0"/>
          </a:p>
        </p:txBody>
      </p:sp>
      <p:sp>
        <p:nvSpPr>
          <p:cNvPr id="4" name="TextBox 3"/>
          <p:cNvSpPr txBox="1"/>
          <p:nvPr/>
        </p:nvSpPr>
        <p:spPr>
          <a:xfrm>
            <a:off x="685800" y="5486400"/>
            <a:ext cx="7924800" cy="923330"/>
          </a:xfrm>
          <a:prstGeom prst="rect">
            <a:avLst/>
          </a:prstGeom>
          <a:noFill/>
        </p:spPr>
        <p:txBody>
          <a:bodyPr wrap="square" rtlCol="0">
            <a:spAutoFit/>
          </a:bodyPr>
          <a:lstStyle/>
          <a:p>
            <a:r>
              <a:rPr lang="en-US" b="1" dirty="0" smtClean="0">
                <a:latin typeface="Perpetua" pitchFamily="18" charset="0"/>
              </a:rPr>
              <a:t>*Animals are used because of  the premise that the effects of administration of drugs or chemicals on animals mimics the possible outcomes the agent may produce in humans or other mammals.</a:t>
            </a:r>
            <a:endParaRPr lang="en-US" b="1" dirty="0">
              <a:latin typeface="Perpetua"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latin typeface="Perpetua" pitchFamily="18" charset="0"/>
              </a:rPr>
              <a:t>End points </a:t>
            </a:r>
            <a:r>
              <a:rPr lang="en-US" dirty="0">
                <a:latin typeface="Perpetua" pitchFamily="18" charset="0"/>
              </a:rPr>
              <a:t>from </a:t>
            </a:r>
            <a:r>
              <a:rPr lang="en-US" dirty="0" smtClean="0">
                <a:latin typeface="Perpetua" pitchFamily="18" charset="0"/>
              </a:rPr>
              <a:t>the acute </a:t>
            </a:r>
            <a:r>
              <a:rPr lang="en-US" dirty="0">
                <a:latin typeface="Perpetua" pitchFamily="18" charset="0"/>
              </a:rPr>
              <a:t>toxicity test </a:t>
            </a:r>
            <a:r>
              <a:rPr lang="en-US" dirty="0" smtClean="0">
                <a:latin typeface="Perpetua" pitchFamily="18" charset="0"/>
              </a:rPr>
              <a:t>are used </a:t>
            </a:r>
            <a:r>
              <a:rPr lang="en-US" dirty="0">
                <a:latin typeface="Perpetua" pitchFamily="18" charset="0"/>
              </a:rPr>
              <a:t>as a guide </a:t>
            </a:r>
            <a:r>
              <a:rPr lang="en-US" dirty="0" smtClean="0">
                <a:latin typeface="Perpetua" pitchFamily="18" charset="0"/>
              </a:rPr>
              <a:t>for dosage </a:t>
            </a:r>
            <a:r>
              <a:rPr lang="en-US" dirty="0">
                <a:latin typeface="Perpetua" pitchFamily="18" charset="0"/>
              </a:rPr>
              <a:t>selection </a:t>
            </a:r>
            <a:r>
              <a:rPr lang="en-US" dirty="0" smtClean="0">
                <a:latin typeface="Perpetua" pitchFamily="18" charset="0"/>
              </a:rPr>
              <a:t>in the design of long </a:t>
            </a:r>
            <a:r>
              <a:rPr lang="en-US" dirty="0">
                <a:latin typeface="Perpetua" pitchFamily="18" charset="0"/>
              </a:rPr>
              <a:t>term toxicity studies </a:t>
            </a:r>
            <a:r>
              <a:rPr lang="en-US" dirty="0" smtClean="0">
                <a:latin typeface="Perpetua" pitchFamily="18" charset="0"/>
              </a:rPr>
              <a:t>and others involving the use of animals.</a:t>
            </a:r>
            <a:endParaRPr lang="en-US" dirty="0">
              <a:latin typeface="Perpetua"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Considerations in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latin typeface="Perpetua" pitchFamily="18" charset="0"/>
              </a:rPr>
              <a:t>Age of animals</a:t>
            </a:r>
            <a:endParaRPr lang="en-US" dirty="0" smtClean="0">
              <a:latin typeface="Perpetua" pitchFamily="18" charset="0"/>
            </a:endParaRPr>
          </a:p>
          <a:p>
            <a:r>
              <a:rPr lang="en-US" dirty="0" smtClean="0">
                <a:latin typeface="Perpetua" pitchFamily="18" charset="0"/>
              </a:rPr>
              <a:t>Route of exposure; oral, parenteral, inhalation </a:t>
            </a:r>
            <a:endParaRPr lang="en-US" dirty="0" smtClean="0">
              <a:latin typeface="Perpetua" pitchFamily="18" charset="0"/>
            </a:endParaRPr>
          </a:p>
          <a:p>
            <a:r>
              <a:rPr lang="en-US" dirty="0" smtClean="0">
                <a:latin typeface="Perpetua" pitchFamily="18" charset="0"/>
              </a:rPr>
              <a:t>Time of exposure</a:t>
            </a:r>
            <a:endParaRPr lang="en-US" dirty="0" smtClean="0">
              <a:latin typeface="Perpetua" pitchFamily="18" charset="0"/>
            </a:endParaRPr>
          </a:p>
          <a:p>
            <a:r>
              <a:rPr lang="en-US" dirty="0">
                <a:latin typeface="Perpetua" pitchFamily="18" charset="0"/>
              </a:rPr>
              <a:t>*</a:t>
            </a:r>
            <a:r>
              <a:rPr lang="en-US" dirty="0" smtClean="0">
                <a:latin typeface="Perpetua" pitchFamily="18" charset="0"/>
              </a:rPr>
              <a:t>Dose of drug or chemical</a:t>
            </a:r>
            <a:endParaRPr lang="en-US" dirty="0" smtClean="0">
              <a:latin typeface="Perpetua" pitchFamily="18" charset="0"/>
            </a:endParaRPr>
          </a:p>
          <a:p>
            <a:r>
              <a:rPr lang="en-US" dirty="0" smtClean="0">
                <a:latin typeface="Perpetua" pitchFamily="18" charset="0"/>
              </a:rPr>
              <a:t>Selection of animal species</a:t>
            </a:r>
            <a:endParaRPr lang="en-US" dirty="0">
              <a:latin typeface="Perpetua" pitchFamily="18" charset="0"/>
            </a:endParaRPr>
          </a:p>
        </p:txBody>
      </p:sp>
      <p:sp>
        <p:nvSpPr>
          <p:cNvPr id="4" name="TextBox 3"/>
          <p:cNvSpPr txBox="1"/>
          <p:nvPr/>
        </p:nvSpPr>
        <p:spPr>
          <a:xfrm>
            <a:off x="914400" y="5791200"/>
            <a:ext cx="5867400" cy="646331"/>
          </a:xfrm>
          <a:prstGeom prst="rect">
            <a:avLst/>
          </a:prstGeom>
          <a:noFill/>
        </p:spPr>
        <p:txBody>
          <a:bodyPr wrap="square" rtlCol="0">
            <a:spAutoFit/>
          </a:bodyPr>
          <a:lstStyle/>
          <a:p>
            <a:r>
              <a:rPr lang="en-US" b="1" dirty="0" smtClean="0">
                <a:latin typeface="Perpetua" pitchFamily="18" charset="0"/>
              </a:rPr>
              <a:t>*Toxic effects should be directly proportional to increasing doses.</a:t>
            </a:r>
            <a:endParaRPr lang="en-US" b="1" dirty="0">
              <a:latin typeface="Perpetua"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Perpetua" pitchFamily="18" charset="0"/>
              </a:rPr>
              <a:t>Median lethal dose (LD</a:t>
            </a:r>
            <a:r>
              <a:rPr lang="en-US" b="1" baseline="-25000" dirty="0" smtClean="0">
                <a:latin typeface="Perpetua" pitchFamily="18" charset="0"/>
              </a:rPr>
              <a:t>50 </a:t>
            </a:r>
            <a:r>
              <a:rPr lang="en-US" b="1" dirty="0" smtClean="0">
                <a:latin typeface="Perpetua" pitchFamily="18" charset="0"/>
              </a:rPr>
              <a:t>) and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457200" y="1219200"/>
            <a:ext cx="8229600" cy="4906963"/>
          </a:xfrm>
        </p:spPr>
        <p:txBody>
          <a:bodyPr>
            <a:normAutofit/>
          </a:bodyPr>
          <a:lstStyle/>
          <a:p>
            <a:r>
              <a:rPr lang="en-US" sz="2800" dirty="0" smtClean="0">
                <a:latin typeface="Perpetua" pitchFamily="18" charset="0"/>
              </a:rPr>
              <a:t>The LD</a:t>
            </a:r>
            <a:r>
              <a:rPr lang="en-US" sz="2800" baseline="-25000" dirty="0" smtClean="0">
                <a:latin typeface="Perpetua" pitchFamily="18" charset="0"/>
              </a:rPr>
              <a:t>50</a:t>
            </a:r>
            <a:r>
              <a:rPr lang="en-US" sz="2800" dirty="0" smtClean="0">
                <a:latin typeface="Perpetua" pitchFamily="18" charset="0"/>
              </a:rPr>
              <a:t> is the estimated dose that causes death in 50% of the population of the species exposed under defined conditions of the test.</a:t>
            </a:r>
            <a:endParaRPr lang="en-US" sz="2800" dirty="0" smtClean="0">
              <a:latin typeface="Perpetua" pitchFamily="18" charset="0"/>
            </a:endParaRPr>
          </a:p>
          <a:p>
            <a:endParaRPr lang="en-US" sz="2800" dirty="0">
              <a:latin typeface="Perpetua" pitchFamily="18" charset="0"/>
            </a:endParaRPr>
          </a:p>
          <a:p>
            <a:r>
              <a:rPr lang="en-US" sz="2800" dirty="0" smtClean="0">
                <a:latin typeface="Perpetua" pitchFamily="18" charset="0"/>
              </a:rPr>
              <a:t>LD</a:t>
            </a:r>
            <a:r>
              <a:rPr lang="en-US" sz="2800" baseline="-25000" dirty="0" smtClean="0">
                <a:latin typeface="Perpetua" pitchFamily="18" charset="0"/>
              </a:rPr>
              <a:t>50</a:t>
            </a:r>
            <a:r>
              <a:rPr lang="en-US" sz="2800" dirty="0" smtClean="0">
                <a:latin typeface="Perpetua" pitchFamily="18" charset="0"/>
              </a:rPr>
              <a:t> test for a substance must include at least two routes of exposure, usually oral and parenteral routes. </a:t>
            </a:r>
            <a:endParaRPr lang="en-US" sz="2800" dirty="0" smtClean="0">
              <a:latin typeface="Perpetua" pitchFamily="18" charset="0"/>
            </a:endParaRPr>
          </a:p>
          <a:p>
            <a:r>
              <a:rPr lang="en-US" sz="2800" dirty="0" smtClean="0">
                <a:latin typeface="Perpetua" pitchFamily="18" charset="0"/>
              </a:rPr>
              <a:t>Used to develop dose-response relationships to standardize biological preparations according to lethal potency.</a:t>
            </a:r>
            <a:endParaRPr lang="en-US" sz="2800" dirty="0" smtClean="0">
              <a:latin typeface="Perpetua"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noAutofit/>
          </a:bodyPr>
          <a:lstStyle/>
          <a:p>
            <a:r>
              <a:rPr lang="en-US" sz="2400" dirty="0" smtClean="0">
                <a:latin typeface="Perpetua" pitchFamily="18" charset="0"/>
              </a:rPr>
              <a:t>The nature of substance tested may warrant modification of the routes to include testing for inhalation, dermal or other exposures.</a:t>
            </a:r>
            <a:endParaRPr lang="en-US" sz="2400" dirty="0" smtClean="0">
              <a:latin typeface="Perpetua" pitchFamily="18" charset="0"/>
            </a:endParaRPr>
          </a:p>
          <a:p>
            <a:endParaRPr lang="en-US" sz="2400" dirty="0">
              <a:latin typeface="Perpetua" pitchFamily="18" charset="0"/>
            </a:endParaRPr>
          </a:p>
          <a:p>
            <a:r>
              <a:rPr lang="en-US" sz="2400" dirty="0" smtClean="0">
                <a:latin typeface="Perpetua" pitchFamily="18" charset="0"/>
              </a:rPr>
              <a:t>For inhalation or aquatic studies, toxicological outcomes are referred to as the median lethal concentration (LC</a:t>
            </a:r>
            <a:r>
              <a:rPr lang="en-US" sz="2400" baseline="-25000" dirty="0" smtClean="0">
                <a:latin typeface="Perpetua" pitchFamily="18" charset="0"/>
              </a:rPr>
              <a:t>50</a:t>
            </a:r>
            <a:r>
              <a:rPr lang="en-US" sz="2400" dirty="0" smtClean="0">
                <a:latin typeface="Perpetua" pitchFamily="18" charset="0"/>
              </a:rPr>
              <a:t>).</a:t>
            </a:r>
            <a:endParaRPr lang="en-US" sz="2400" dirty="0" smtClean="0">
              <a:latin typeface="Perpetua" pitchFamily="18" charset="0"/>
            </a:endParaRPr>
          </a:p>
          <a:p>
            <a:endParaRPr lang="en-US" sz="2400" dirty="0">
              <a:latin typeface="Perpetua" pitchFamily="18" charset="0"/>
            </a:endParaRPr>
          </a:p>
          <a:p>
            <a:r>
              <a:rPr lang="en-US" sz="2400" dirty="0" smtClean="0">
                <a:latin typeface="Perpetua" pitchFamily="18" charset="0"/>
              </a:rPr>
              <a:t>The LC</a:t>
            </a:r>
            <a:r>
              <a:rPr lang="en-US" sz="2400" baseline="-25000" dirty="0" smtClean="0">
                <a:latin typeface="Perpetua" pitchFamily="18" charset="0"/>
              </a:rPr>
              <a:t>50</a:t>
            </a:r>
            <a:r>
              <a:rPr lang="en-US" sz="2400" dirty="0" smtClean="0">
                <a:latin typeface="Perpetua" pitchFamily="18" charset="0"/>
              </a:rPr>
              <a:t> refers to the estimated concentration of environmental exposure that results in 50% mortality of the population of test animals.</a:t>
            </a:r>
            <a:endParaRPr lang="en-US" sz="2400" dirty="0" smtClean="0">
              <a:latin typeface="Perpetua"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Perpetua" pitchFamily="18" charset="0"/>
              </a:rPr>
              <a:t>Asymmetrical relationship between LD</a:t>
            </a:r>
            <a:r>
              <a:rPr lang="en-US" b="1" baseline="-25000" dirty="0" smtClean="0">
                <a:latin typeface="Perpetua" pitchFamily="18" charset="0"/>
              </a:rPr>
              <a:t>50</a:t>
            </a:r>
            <a:r>
              <a:rPr lang="en-US" b="1" dirty="0" smtClean="0">
                <a:latin typeface="Perpetua" pitchFamily="18" charset="0"/>
              </a:rPr>
              <a:t> and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381000" y="1447800"/>
            <a:ext cx="8610600" cy="5105400"/>
          </a:xfrm>
        </p:spPr>
        <p:txBody>
          <a:bodyPr>
            <a:normAutofit/>
          </a:bodyPr>
          <a:lstStyle/>
          <a:p>
            <a:r>
              <a:rPr lang="en-US" sz="2800" dirty="0" smtClean="0">
                <a:latin typeface="Perpetua" pitchFamily="18" charset="0"/>
              </a:rPr>
              <a:t>LD</a:t>
            </a:r>
            <a:r>
              <a:rPr lang="en-US" sz="2800" baseline="-25000" dirty="0" smtClean="0">
                <a:latin typeface="Perpetua" pitchFamily="18" charset="0"/>
              </a:rPr>
              <a:t>50</a:t>
            </a:r>
            <a:r>
              <a:rPr lang="en-US" sz="2800" dirty="0" smtClean="0">
                <a:latin typeface="Perpetua" pitchFamily="18" charset="0"/>
              </a:rPr>
              <a:t> represent lethality and does not reflect the acute toxic properties of a compound. </a:t>
            </a:r>
            <a:endParaRPr lang="en-US" sz="2800" dirty="0" smtClean="0">
              <a:latin typeface="Perpetua" pitchFamily="18" charset="0"/>
            </a:endParaRPr>
          </a:p>
          <a:p>
            <a:r>
              <a:rPr lang="en-US" sz="2800" dirty="0" smtClean="0">
                <a:latin typeface="Perpetua" pitchFamily="18" charset="0"/>
              </a:rPr>
              <a:t>The value does not present enough information to adequately classify a compound.</a:t>
            </a:r>
            <a:endParaRPr lang="en-US" sz="2800" dirty="0" smtClean="0">
              <a:latin typeface="Perpetua" pitchFamily="18" charset="0"/>
            </a:endParaRPr>
          </a:p>
          <a:p>
            <a:r>
              <a:rPr lang="en-US" sz="2800" dirty="0" smtClean="0">
                <a:latin typeface="Perpetua" pitchFamily="18" charset="0"/>
              </a:rPr>
              <a:t>It also does not correlate well with information on different mechanisms of action of toxic agents</a:t>
            </a:r>
            <a:endParaRPr lang="en-US" sz="2800" dirty="0" smtClean="0">
              <a:latin typeface="Perpetua" pitchFamily="18" charset="0"/>
            </a:endParaRPr>
          </a:p>
          <a:p>
            <a:r>
              <a:rPr lang="en-US" sz="2800" dirty="0" smtClean="0">
                <a:latin typeface="Perpetua" pitchFamily="18" charset="0"/>
              </a:rPr>
              <a:t>Analysis of LD</a:t>
            </a:r>
            <a:r>
              <a:rPr lang="en-US" sz="2800" baseline="-25000" dirty="0" smtClean="0">
                <a:latin typeface="Perpetua" pitchFamily="18" charset="0"/>
              </a:rPr>
              <a:t>50</a:t>
            </a:r>
            <a:r>
              <a:rPr lang="en-US" sz="2800" dirty="0" smtClean="0">
                <a:latin typeface="Perpetua" pitchFamily="18" charset="0"/>
              </a:rPr>
              <a:t> data only translates a value into an indicator of toxicity for a specific agent.</a:t>
            </a:r>
            <a:endParaRPr lang="en-US" sz="2800" dirty="0" smtClean="0">
              <a:latin typeface="Perpetua"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Imperatives for LD</a:t>
            </a:r>
            <a:r>
              <a:rPr lang="en-US" b="1" baseline="-25000" dirty="0" smtClean="0">
                <a:latin typeface="Perpetua" pitchFamily="18" charset="0"/>
              </a:rPr>
              <a:t>50</a:t>
            </a:r>
            <a:r>
              <a:rPr lang="en-US" b="1" dirty="0" smtClean="0">
                <a:latin typeface="Perpetua" pitchFamily="18" charset="0"/>
              </a:rPr>
              <a:t> studies</a:t>
            </a:r>
            <a:endParaRPr lang="en-US" b="1" dirty="0">
              <a:latin typeface="Perpetua" pitchFamily="18" charset="0"/>
            </a:endParaRPr>
          </a:p>
        </p:txBody>
      </p:sp>
      <p:sp>
        <p:nvSpPr>
          <p:cNvPr id="3" name="Content Placeholder 2"/>
          <p:cNvSpPr>
            <a:spLocks noGrp="1"/>
          </p:cNvSpPr>
          <p:nvPr>
            <p:ph idx="1"/>
          </p:nvPr>
        </p:nvSpPr>
        <p:spPr/>
        <p:txBody>
          <a:bodyPr>
            <a:normAutofit/>
          </a:bodyPr>
          <a:lstStyle/>
          <a:p>
            <a:r>
              <a:rPr lang="en-US" dirty="0" smtClean="0">
                <a:latin typeface="Perpetua" pitchFamily="18" charset="0"/>
              </a:rPr>
              <a:t>Rodent species are used</a:t>
            </a:r>
            <a:endParaRPr lang="en-US" dirty="0" smtClean="0">
              <a:latin typeface="Perpetua" pitchFamily="18" charset="0"/>
            </a:endParaRPr>
          </a:p>
          <a:p>
            <a:pPr>
              <a:buFontTx/>
              <a:buChar char="-"/>
            </a:pPr>
            <a:r>
              <a:rPr lang="en-US" dirty="0" smtClean="0">
                <a:latin typeface="Perpetua" pitchFamily="18" charset="0"/>
              </a:rPr>
              <a:t>Reasons: a. more economical than other animals </a:t>
            </a:r>
            <a:endParaRPr lang="en-US" dirty="0" smtClean="0">
              <a:latin typeface="Perpetua" pitchFamily="18" charset="0"/>
            </a:endParaRPr>
          </a:p>
          <a:p>
            <a:pPr>
              <a:buFontTx/>
              <a:buChar char="-"/>
            </a:pPr>
            <a:r>
              <a:rPr lang="en-US" dirty="0" smtClean="0">
                <a:latin typeface="Perpetua" pitchFamily="18" charset="0"/>
              </a:rPr>
              <a:t>b. have fewer interspecies variation </a:t>
            </a:r>
            <a:endParaRPr lang="en-US" dirty="0" smtClean="0">
              <a:latin typeface="Perpetua" pitchFamily="18" charset="0"/>
            </a:endParaRPr>
          </a:p>
          <a:p>
            <a:pPr>
              <a:buFontTx/>
              <a:buChar char="-"/>
            </a:pPr>
            <a:r>
              <a:rPr lang="en-US" dirty="0" smtClean="0">
                <a:latin typeface="Perpetua" pitchFamily="18" charset="0"/>
              </a:rPr>
              <a:t>c. readily available </a:t>
            </a:r>
            <a:endParaRPr lang="en-US" dirty="0" smtClean="0">
              <a:latin typeface="Perpetua" pitchFamily="18" charset="0"/>
            </a:endParaRPr>
          </a:p>
          <a:p>
            <a:pPr>
              <a:buFontTx/>
              <a:buChar char="-"/>
            </a:pPr>
            <a:r>
              <a:rPr lang="en-US" dirty="0" smtClean="0">
                <a:latin typeface="Perpetua" pitchFamily="18" charset="0"/>
              </a:rPr>
              <a:t>d. housing and caring for rodents are more feasible and practical than for other species.</a:t>
            </a:r>
            <a:endParaRPr lang="en-US" dirty="0" smtClean="0">
              <a:latin typeface="Perpetua"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a:latin typeface="Perpetua" pitchFamily="18" charset="0"/>
              </a:rPr>
              <a:t>Protocols for acquiring and </a:t>
            </a:r>
            <a:r>
              <a:rPr lang="en-US" dirty="0" err="1">
                <a:latin typeface="Perpetua" pitchFamily="18" charset="0"/>
              </a:rPr>
              <a:t>aclimating</a:t>
            </a:r>
            <a:r>
              <a:rPr lang="en-US" dirty="0">
                <a:latin typeface="Perpetua" pitchFamily="18" charset="0"/>
              </a:rPr>
              <a:t> the animals are important to the success of the study</a:t>
            </a:r>
            <a:endParaRPr lang="en-US" dirty="0">
              <a:latin typeface="Perpetua" pitchFamily="18" charset="0"/>
            </a:endParaRPr>
          </a:p>
          <a:p>
            <a:pPr marL="0" indent="0">
              <a:buNone/>
            </a:pPr>
            <a:r>
              <a:rPr lang="en-US" dirty="0">
                <a:latin typeface="Perpetua" pitchFamily="18" charset="0"/>
              </a:rPr>
              <a:t>- Animals should be purchased from dependable breeders and placed in an animal care facility for 7 to 14 </a:t>
            </a:r>
            <a:r>
              <a:rPr lang="en-US">
                <a:latin typeface="Perpetua" pitchFamily="18" charset="0"/>
              </a:rPr>
              <a:t>days </a:t>
            </a:r>
            <a:r>
              <a:rPr lang="en-US" smtClean="0">
                <a:latin typeface="Perpetua" pitchFamily="18" charset="0"/>
              </a:rPr>
              <a:t>prior to the commencement </a:t>
            </a:r>
            <a:r>
              <a:rPr lang="en-US" dirty="0">
                <a:latin typeface="Perpetua" pitchFamily="18" charset="0"/>
              </a:rPr>
              <a:t>of the study. </a:t>
            </a:r>
            <a:endParaRPr lang="en-US" dirty="0">
              <a:latin typeface="Perpetua" pitchFamily="18" charset="0"/>
            </a:endParaRP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Perpetua" pitchFamily="18" charset="0"/>
              </a:rPr>
              <a:t>Methods for determination of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457200" y="1219200"/>
            <a:ext cx="8229600" cy="4906963"/>
          </a:xfrm>
        </p:spPr>
        <p:txBody>
          <a:bodyPr/>
          <a:lstStyle/>
          <a:p>
            <a:r>
              <a:rPr lang="en-US" b="1" dirty="0" smtClean="0">
                <a:latin typeface="Perpetua" pitchFamily="18" charset="0"/>
              </a:rPr>
              <a:t>Traditional methods</a:t>
            </a:r>
            <a:endParaRPr lang="en-US" b="1" dirty="0" smtClean="0">
              <a:latin typeface="Perpetua" pitchFamily="18" charset="0"/>
            </a:endParaRPr>
          </a:p>
          <a:p>
            <a:r>
              <a:rPr lang="en-US" dirty="0" smtClean="0">
                <a:latin typeface="Perpetua" pitchFamily="18" charset="0"/>
              </a:rPr>
              <a:t>The classical LD</a:t>
            </a:r>
            <a:r>
              <a:rPr lang="en-US" baseline="-25000" dirty="0" smtClean="0">
                <a:latin typeface="Perpetua" pitchFamily="18" charset="0"/>
              </a:rPr>
              <a:t>50</a:t>
            </a:r>
            <a:r>
              <a:rPr lang="en-US" dirty="0" smtClean="0">
                <a:latin typeface="Perpetua" pitchFamily="18" charset="0"/>
              </a:rPr>
              <a:t> test</a:t>
            </a:r>
            <a:endParaRPr lang="en-US" dirty="0" smtClean="0">
              <a:latin typeface="Perpetua" pitchFamily="18" charset="0"/>
            </a:endParaRPr>
          </a:p>
          <a:p>
            <a:pPr>
              <a:buFontTx/>
              <a:buChar char="-"/>
            </a:pPr>
            <a:r>
              <a:rPr lang="en-US" dirty="0" smtClean="0">
                <a:latin typeface="Perpetua" pitchFamily="18" charset="0"/>
              </a:rPr>
              <a:t>First to be developed in the 1920s</a:t>
            </a:r>
            <a:endParaRPr lang="en-US" dirty="0" smtClean="0">
              <a:latin typeface="Perpetua" pitchFamily="18" charset="0"/>
            </a:endParaRPr>
          </a:p>
          <a:p>
            <a:pPr>
              <a:buFontTx/>
              <a:buChar char="-"/>
            </a:pPr>
            <a:r>
              <a:rPr lang="en-US" dirty="0" smtClean="0">
                <a:latin typeface="Perpetua" pitchFamily="18" charset="0"/>
              </a:rPr>
              <a:t>Large numbers of animals are used</a:t>
            </a:r>
            <a:endParaRPr lang="en-US" dirty="0" smtClean="0">
              <a:latin typeface="Perpetua" pitchFamily="18" charset="0"/>
            </a:endParaRPr>
          </a:p>
          <a:p>
            <a:pPr>
              <a:buFontTx/>
              <a:buChar char="-"/>
            </a:pPr>
            <a:r>
              <a:rPr lang="en-US" dirty="0" smtClean="0">
                <a:latin typeface="Perpetua" pitchFamily="18" charset="0"/>
              </a:rPr>
              <a:t>Animals in five dosage groups are administered the test agent to determine the median lethal dose.</a:t>
            </a:r>
            <a:endParaRPr lang="en-US" dirty="0" smtClean="0">
              <a:latin typeface="Perpetua" pitchFamily="18" charset="0"/>
            </a:endParaRPr>
          </a:p>
          <a:p>
            <a:pPr>
              <a:buFontTx/>
              <a:buChar char="-"/>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normAutofit fontScale="92500" lnSpcReduction="10000"/>
          </a:bodyPr>
          <a:lstStyle/>
          <a:p>
            <a:r>
              <a:rPr lang="en-US" dirty="0" smtClean="0">
                <a:latin typeface="Perpetua" pitchFamily="18" charset="0"/>
              </a:rPr>
              <a:t>The </a:t>
            </a:r>
            <a:r>
              <a:rPr lang="en-US" dirty="0" err="1" smtClean="0">
                <a:latin typeface="Perpetua" pitchFamily="18" charset="0"/>
              </a:rPr>
              <a:t>Karbal</a:t>
            </a:r>
            <a:r>
              <a:rPr lang="en-US" dirty="0" smtClean="0">
                <a:latin typeface="Perpetua" pitchFamily="18" charset="0"/>
              </a:rPr>
              <a:t> method</a:t>
            </a:r>
            <a:endParaRPr lang="en-US" dirty="0" smtClean="0">
              <a:latin typeface="Perpetua" pitchFamily="18" charset="0"/>
            </a:endParaRPr>
          </a:p>
          <a:p>
            <a:pPr marL="0" indent="0">
              <a:buNone/>
            </a:pPr>
            <a:r>
              <a:rPr lang="en-US" dirty="0" smtClean="0">
                <a:latin typeface="Perpetua" pitchFamily="18" charset="0"/>
              </a:rPr>
              <a:t>-   Developed in 1931</a:t>
            </a:r>
            <a:endParaRPr lang="en-US" dirty="0" smtClean="0">
              <a:latin typeface="Perpetua" pitchFamily="18" charset="0"/>
            </a:endParaRPr>
          </a:p>
          <a:p>
            <a:pPr>
              <a:buFontTx/>
              <a:buChar char="-"/>
            </a:pPr>
            <a:r>
              <a:rPr lang="en-US" dirty="0" smtClean="0">
                <a:latin typeface="Perpetua" pitchFamily="18" charset="0"/>
              </a:rPr>
              <a:t>Involves the use of 30 animals divided into 6 groups.</a:t>
            </a:r>
            <a:endParaRPr lang="en-US" dirty="0" smtClean="0">
              <a:latin typeface="Perpetua" pitchFamily="18" charset="0"/>
            </a:endParaRPr>
          </a:p>
          <a:p>
            <a:pPr>
              <a:buFontTx/>
              <a:buChar char="-"/>
            </a:pPr>
            <a:r>
              <a:rPr lang="en-US" dirty="0" smtClean="0">
                <a:latin typeface="Perpetua" pitchFamily="18" charset="0"/>
              </a:rPr>
              <a:t>Animals are administered the test agent and observed for 4h       24h        daily for 14 d for toxicity.</a:t>
            </a:r>
            <a:endParaRPr lang="en-US" dirty="0">
              <a:latin typeface="Perpetua" pitchFamily="18" charset="0"/>
            </a:endParaRPr>
          </a:p>
          <a:p>
            <a:pPr>
              <a:buFontTx/>
              <a:buChar char="-"/>
            </a:pPr>
            <a:r>
              <a:rPr lang="en-US" dirty="0" smtClean="0">
                <a:latin typeface="Perpetua" pitchFamily="18" charset="0"/>
              </a:rPr>
              <a:t>LD</a:t>
            </a:r>
            <a:r>
              <a:rPr lang="en-US" baseline="-25000" dirty="0" smtClean="0">
                <a:latin typeface="Perpetua" pitchFamily="18" charset="0"/>
              </a:rPr>
              <a:t>50</a:t>
            </a:r>
            <a:r>
              <a:rPr lang="en-US" dirty="0" smtClean="0">
                <a:latin typeface="Perpetua" pitchFamily="18" charset="0"/>
              </a:rPr>
              <a:t>  is calculated as follows:</a:t>
            </a:r>
            <a:endParaRPr lang="en-US" dirty="0" smtClean="0">
              <a:latin typeface="Perpetua" pitchFamily="18" charset="0"/>
            </a:endParaRPr>
          </a:p>
          <a:p>
            <a:pPr marL="0" indent="0">
              <a:buNone/>
            </a:pPr>
            <a:r>
              <a:rPr lang="en-US" dirty="0" smtClean="0">
                <a:latin typeface="Perpetua" pitchFamily="18" charset="0"/>
              </a:rPr>
              <a:t>LD</a:t>
            </a:r>
            <a:r>
              <a:rPr lang="en-US" baseline="-25000" dirty="0" smtClean="0">
                <a:latin typeface="Perpetua" pitchFamily="18" charset="0"/>
              </a:rPr>
              <a:t>50 </a:t>
            </a:r>
            <a:r>
              <a:rPr lang="en-US" baseline="-25000" dirty="0">
                <a:latin typeface="Perpetua" pitchFamily="18" charset="0"/>
              </a:rPr>
              <a:t>= </a:t>
            </a:r>
            <a:r>
              <a:rPr lang="en-US" dirty="0" smtClean="0">
                <a:latin typeface="Perpetua" pitchFamily="18" charset="0"/>
              </a:rPr>
              <a:t>LD</a:t>
            </a:r>
            <a:r>
              <a:rPr lang="en-US" baseline="-25000" dirty="0" smtClean="0">
                <a:latin typeface="Perpetua" pitchFamily="18" charset="0"/>
              </a:rPr>
              <a:t>100 – </a:t>
            </a:r>
            <a:r>
              <a:rPr lang="en-US" baseline="-25000" dirty="0">
                <a:latin typeface="Perpetua" pitchFamily="18" charset="0"/>
              </a:rPr>
              <a:t>{Σ [Dose difference × Mean dead]}/ Number of animals </a:t>
            </a:r>
            <a:r>
              <a:rPr lang="en-US" baseline="-25000" dirty="0" smtClean="0">
                <a:latin typeface="Perpetua" pitchFamily="18" charset="0"/>
              </a:rPr>
              <a:t>  per group. </a:t>
            </a:r>
            <a:endParaRPr lang="en-US" baseline="-25000" dirty="0" smtClean="0">
              <a:latin typeface="Perpetua" pitchFamily="18" charset="0"/>
            </a:endParaRPr>
          </a:p>
          <a:p>
            <a:pPr marL="0" indent="0">
              <a:buNone/>
            </a:pPr>
            <a:r>
              <a:rPr lang="en-US" dirty="0" smtClean="0">
                <a:latin typeface="Perpetua" pitchFamily="18" charset="0"/>
              </a:rPr>
              <a:t>- </a:t>
            </a:r>
            <a:endParaRPr lang="en-US" dirty="0">
              <a:latin typeface="Perpet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latin typeface="Perpetua" pitchFamily="18" charset="0"/>
              </a:rPr>
              <a:t>Approximate lethal dose</a:t>
            </a:r>
            <a:endParaRPr lang="en-US" dirty="0" smtClean="0">
              <a:latin typeface="Perpetua" pitchFamily="18" charset="0"/>
            </a:endParaRPr>
          </a:p>
          <a:p>
            <a:pPr>
              <a:buFontTx/>
              <a:buChar char="-"/>
            </a:pPr>
            <a:r>
              <a:rPr lang="en-US" dirty="0" smtClean="0">
                <a:latin typeface="Perpetua" pitchFamily="18" charset="0"/>
              </a:rPr>
              <a:t>This was developed in the early 1940s because of the limitation (high mortality) of the classical test.</a:t>
            </a:r>
            <a:endParaRPr lang="en-US" dirty="0" smtClean="0">
              <a:latin typeface="Perpetua" pitchFamily="18" charset="0"/>
            </a:endParaRPr>
          </a:p>
          <a:p>
            <a:pPr>
              <a:buFontTx/>
              <a:buChar char="-"/>
            </a:pPr>
            <a:endParaRPr lang="en-US" dirty="0">
              <a:latin typeface="Perpetua" pitchFamily="18" charset="0"/>
            </a:endParaRPr>
          </a:p>
          <a:p>
            <a:pPr>
              <a:buFontTx/>
              <a:buChar char="-"/>
            </a:pPr>
            <a:r>
              <a:rPr lang="en-US" dirty="0" smtClean="0">
                <a:latin typeface="Perpetua" pitchFamily="18" charset="0"/>
              </a:rPr>
              <a:t>Animals are administered graded doses of the test agent increasing by a factor of 0.5.</a:t>
            </a:r>
            <a:endParaRPr lang="en-US" dirty="0">
              <a:latin typeface="Perpet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sz="2400" dirty="0" smtClean="0">
                <a:latin typeface="Perpetua" pitchFamily="18" charset="0"/>
              </a:rPr>
              <a:t>Miller and </a:t>
            </a:r>
            <a:r>
              <a:rPr lang="en-US" sz="2400" dirty="0" err="1" smtClean="0">
                <a:latin typeface="Perpetua" pitchFamily="18" charset="0"/>
              </a:rPr>
              <a:t>Tainter</a:t>
            </a:r>
            <a:r>
              <a:rPr lang="en-US" sz="2400" dirty="0" smtClean="0">
                <a:latin typeface="Perpetua" pitchFamily="18" charset="0"/>
              </a:rPr>
              <a:t> method</a:t>
            </a:r>
            <a:endParaRPr lang="en-US" sz="2400" dirty="0" smtClean="0">
              <a:latin typeface="Perpetua" pitchFamily="18" charset="0"/>
            </a:endParaRPr>
          </a:p>
          <a:p>
            <a:pPr>
              <a:buFontTx/>
              <a:buChar char="-"/>
            </a:pPr>
            <a:r>
              <a:rPr lang="en-US" sz="2400" dirty="0" smtClean="0">
                <a:latin typeface="Perpetua" pitchFamily="18" charset="0"/>
              </a:rPr>
              <a:t>Developed in 1944</a:t>
            </a:r>
            <a:endParaRPr lang="en-US" sz="2400" dirty="0" smtClean="0">
              <a:latin typeface="Perpetua" pitchFamily="18" charset="0"/>
            </a:endParaRPr>
          </a:p>
          <a:p>
            <a:pPr>
              <a:buFontTx/>
              <a:buChar char="-"/>
            </a:pPr>
            <a:r>
              <a:rPr lang="en-US" sz="2400" dirty="0" smtClean="0">
                <a:latin typeface="Perpetua" pitchFamily="18" charset="0"/>
              </a:rPr>
              <a:t>Use of 50 animals divided into five groups.</a:t>
            </a:r>
            <a:endParaRPr lang="en-US" sz="2400" dirty="0" smtClean="0">
              <a:latin typeface="Perpetua" pitchFamily="18" charset="0"/>
            </a:endParaRPr>
          </a:p>
          <a:p>
            <a:pPr>
              <a:buFontTx/>
              <a:buChar char="-"/>
            </a:pPr>
            <a:r>
              <a:rPr lang="en-US" sz="2400" dirty="0" smtClean="0">
                <a:latin typeface="Perpetua" pitchFamily="18" charset="0"/>
              </a:rPr>
              <a:t>The test agent is administered and signs of toxicity and mortality are observed and recorded.</a:t>
            </a:r>
            <a:endParaRPr lang="en-US" sz="2400" dirty="0" smtClean="0">
              <a:latin typeface="Perpetua" pitchFamily="18" charset="0"/>
            </a:endParaRPr>
          </a:p>
          <a:p>
            <a:pPr>
              <a:buFontTx/>
              <a:buChar char="-"/>
            </a:pPr>
            <a:r>
              <a:rPr lang="en-US" sz="2400" dirty="0" smtClean="0">
                <a:latin typeface="Perpetua" pitchFamily="18" charset="0"/>
              </a:rPr>
              <a:t>LD</a:t>
            </a:r>
            <a:r>
              <a:rPr lang="en-US" sz="2400" baseline="-25000" dirty="0" smtClean="0">
                <a:latin typeface="Perpetua" pitchFamily="18" charset="0"/>
              </a:rPr>
              <a:t>50</a:t>
            </a:r>
            <a:r>
              <a:rPr lang="en-US" sz="2400" dirty="0" smtClean="0">
                <a:latin typeface="Perpetua" pitchFamily="18" charset="0"/>
              </a:rPr>
              <a:t> is calculated using the graphical log dose -</a:t>
            </a:r>
            <a:r>
              <a:rPr lang="en-US" sz="2400" dirty="0" err="1" smtClean="0">
                <a:latin typeface="Perpetua" pitchFamily="18" charset="0"/>
              </a:rPr>
              <a:t>probit</a:t>
            </a:r>
            <a:r>
              <a:rPr lang="en-US" sz="2400" dirty="0" smtClean="0">
                <a:latin typeface="Perpetua" pitchFamily="18" charset="0"/>
              </a:rPr>
              <a:t> analysis.</a:t>
            </a:r>
            <a:endParaRPr lang="en-US" sz="2400" dirty="0" smtClean="0">
              <a:latin typeface="Perpetua" pitchFamily="18" charset="0"/>
            </a:endParaRPr>
          </a:p>
        </p:txBody>
      </p:sp>
      <p:sp>
        <p:nvSpPr>
          <p:cNvPr id="5" name="TextBox 4"/>
          <p:cNvSpPr txBox="1"/>
          <p:nvPr/>
        </p:nvSpPr>
        <p:spPr>
          <a:xfrm>
            <a:off x="838200" y="5562600"/>
            <a:ext cx="7543800" cy="646331"/>
          </a:xfrm>
          <a:prstGeom prst="rect">
            <a:avLst/>
          </a:prstGeom>
          <a:noFill/>
        </p:spPr>
        <p:txBody>
          <a:bodyPr wrap="square" rtlCol="0">
            <a:spAutoFit/>
          </a:bodyPr>
          <a:lstStyle/>
          <a:p>
            <a:r>
              <a:rPr lang="en-US" dirty="0">
                <a:latin typeface="Perpetua" pitchFamily="18" charset="0"/>
              </a:rPr>
              <a:t>https://www.slideshare.net/Sindhukuberappa/acute-sub-acute-chronic-toxicological-studi/19?src=clipshare</a:t>
            </a:r>
            <a:endParaRPr lang="en-US" dirty="0">
              <a:latin typeface="Perpetua"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457200" y="1219200"/>
            <a:ext cx="8229600" cy="4906963"/>
          </a:xfrm>
        </p:spPr>
        <p:txBody>
          <a:bodyPr/>
          <a:lstStyle/>
          <a:p>
            <a:r>
              <a:rPr lang="en-US" b="1" dirty="0" smtClean="0">
                <a:latin typeface="Perpetua" pitchFamily="18" charset="0"/>
              </a:rPr>
              <a:t>Alternative methods and OECD guidelines</a:t>
            </a:r>
            <a:endParaRPr lang="en-US" b="1" dirty="0" smtClean="0">
              <a:latin typeface="Perpetua" pitchFamily="18" charset="0"/>
            </a:endParaRPr>
          </a:p>
          <a:p>
            <a:r>
              <a:rPr lang="en-US" dirty="0" smtClean="0">
                <a:latin typeface="Perpetua" pitchFamily="18" charset="0"/>
              </a:rPr>
              <a:t>Limit dose test</a:t>
            </a:r>
            <a:endParaRPr lang="en-US" dirty="0" smtClean="0">
              <a:latin typeface="Perpetua" pitchFamily="18" charset="0"/>
            </a:endParaRPr>
          </a:p>
          <a:p>
            <a:pPr>
              <a:buFontTx/>
              <a:buChar char="-"/>
            </a:pPr>
            <a:r>
              <a:rPr lang="en-US" dirty="0" smtClean="0">
                <a:latin typeface="Perpetua" pitchFamily="18" charset="0"/>
              </a:rPr>
              <a:t>Used when a test agent is suspected to be non-toxic</a:t>
            </a:r>
            <a:endParaRPr lang="en-US" dirty="0" smtClean="0">
              <a:latin typeface="Perpetua" pitchFamily="18" charset="0"/>
            </a:endParaRPr>
          </a:p>
          <a:p>
            <a:pPr>
              <a:buFontTx/>
              <a:buChar char="-"/>
            </a:pPr>
            <a:r>
              <a:rPr lang="en-US" dirty="0" smtClean="0">
                <a:latin typeface="Perpetua" pitchFamily="18" charset="0"/>
              </a:rPr>
              <a:t>Involves a single administration of 5000 mg/kg of the test agent.</a:t>
            </a:r>
            <a:endParaRPr lang="en-US" dirty="0" smtClean="0">
              <a:latin typeface="Perpetua" pitchFamily="18" charset="0"/>
            </a:endParaRPr>
          </a:p>
          <a:p>
            <a:pPr>
              <a:buFontTx/>
              <a:buChar char="-"/>
            </a:pPr>
            <a:r>
              <a:rPr lang="en-US" dirty="0" smtClean="0">
                <a:latin typeface="Perpetua" pitchFamily="18" charset="0"/>
              </a:rPr>
              <a:t>LD</a:t>
            </a:r>
            <a:r>
              <a:rPr lang="en-US" baseline="-25000" dirty="0" smtClean="0">
                <a:latin typeface="Perpetua" pitchFamily="18" charset="0"/>
              </a:rPr>
              <a:t>50</a:t>
            </a:r>
            <a:r>
              <a:rPr lang="en-US" dirty="0" smtClean="0">
                <a:latin typeface="Perpetua" pitchFamily="18" charset="0"/>
              </a:rPr>
              <a:t> is estimated to be greater than 5000 mg/kg if no mortality is observed.</a:t>
            </a:r>
            <a:endParaRPr lang="en-US" dirty="0">
              <a:latin typeface="Perpetua"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228600" y="838200"/>
            <a:ext cx="8686800" cy="5638800"/>
          </a:xfrm>
        </p:spPr>
        <p:txBody>
          <a:bodyPr>
            <a:normAutofit/>
          </a:bodyPr>
          <a:lstStyle/>
          <a:p>
            <a:r>
              <a:rPr lang="en-US" sz="2800" dirty="0" err="1" smtClean="0">
                <a:latin typeface="Perpetua" pitchFamily="18" charset="0"/>
              </a:rPr>
              <a:t>Lorke’s</a:t>
            </a:r>
            <a:r>
              <a:rPr lang="en-US" sz="2800" dirty="0" smtClean="0">
                <a:latin typeface="Perpetua" pitchFamily="18" charset="0"/>
              </a:rPr>
              <a:t> method</a:t>
            </a:r>
            <a:endParaRPr lang="en-US" sz="2800" dirty="0" smtClean="0">
              <a:latin typeface="Perpetua" pitchFamily="18" charset="0"/>
            </a:endParaRPr>
          </a:p>
          <a:p>
            <a:pPr>
              <a:buFontTx/>
              <a:buChar char="-"/>
            </a:pPr>
            <a:r>
              <a:rPr lang="en-US" sz="2800" dirty="0" smtClean="0">
                <a:latin typeface="Perpetua" pitchFamily="18" charset="0"/>
              </a:rPr>
              <a:t>13 animals are used in two phases.</a:t>
            </a:r>
            <a:endParaRPr lang="en-US" sz="2800" dirty="0" smtClean="0">
              <a:latin typeface="Perpetua" pitchFamily="18" charset="0"/>
            </a:endParaRPr>
          </a:p>
          <a:p>
            <a:pPr>
              <a:buFontTx/>
              <a:buChar char="-"/>
            </a:pPr>
            <a:r>
              <a:rPr lang="en-US" sz="2800" dirty="0" smtClean="0">
                <a:latin typeface="Perpetua" pitchFamily="18" charset="0"/>
              </a:rPr>
              <a:t>First phase involves 9 animals divided into 3 groups and administered 10, 100 and 1000 mg/kg of the test agent. Observed for 24 h for behavioral changes and mortality.</a:t>
            </a:r>
            <a:endParaRPr lang="en-US" sz="2800" dirty="0" smtClean="0">
              <a:latin typeface="Perpetua" pitchFamily="18" charset="0"/>
            </a:endParaRPr>
          </a:p>
          <a:p>
            <a:pPr>
              <a:buFontTx/>
              <a:buChar char="-"/>
            </a:pPr>
            <a:endParaRPr lang="en-US" sz="2800" dirty="0" smtClean="0">
              <a:latin typeface="Perpetua" pitchFamily="18" charset="0"/>
            </a:endParaRPr>
          </a:p>
          <a:p>
            <a:pPr>
              <a:buFontTx/>
              <a:buChar char="-"/>
            </a:pPr>
            <a:r>
              <a:rPr lang="en-US" sz="2800" dirty="0" smtClean="0">
                <a:latin typeface="Perpetua" pitchFamily="18" charset="0"/>
              </a:rPr>
              <a:t>Second phase involves the use of 3 animals divided into 3 groups and administered 1600, 2900 and 5000 mg/kg of the test agent. Observed for 24 h for behavioral changes and mortality.</a:t>
            </a:r>
            <a:endParaRPr lang="en-US" sz="2800" dirty="0" smtClean="0">
              <a:latin typeface="Perpetua"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solidFill>
                  <a:srgbClr val="000000"/>
                </a:solidFill>
                <a:latin typeface="Perpetua" pitchFamily="18" charset="0"/>
              </a:rPr>
              <a:t>LD</a:t>
            </a:r>
            <a:r>
              <a:rPr lang="en-US" baseline="-25000" dirty="0" smtClean="0">
                <a:solidFill>
                  <a:srgbClr val="000000"/>
                </a:solidFill>
                <a:latin typeface="Perpetua" pitchFamily="18" charset="0"/>
              </a:rPr>
              <a:t>50</a:t>
            </a:r>
            <a:r>
              <a:rPr lang="en-US" dirty="0">
                <a:solidFill>
                  <a:srgbClr val="000000"/>
                </a:solidFill>
                <a:latin typeface="Perpetua" pitchFamily="18" charset="0"/>
              </a:rPr>
              <a:t> is calculated </a:t>
            </a:r>
            <a:r>
              <a:rPr lang="en-US" dirty="0" smtClean="0">
                <a:solidFill>
                  <a:srgbClr val="000000"/>
                </a:solidFill>
                <a:latin typeface="Perpetua" pitchFamily="18" charset="0"/>
              </a:rPr>
              <a:t>using </a:t>
            </a:r>
            <a:r>
              <a:rPr lang="en-US" dirty="0">
                <a:solidFill>
                  <a:srgbClr val="000000"/>
                </a:solidFill>
                <a:latin typeface="Perpetua" pitchFamily="18" charset="0"/>
              </a:rPr>
              <a:t>the formula</a:t>
            </a:r>
            <a:r>
              <a:rPr lang="en-US" dirty="0" smtClean="0">
                <a:solidFill>
                  <a:srgbClr val="000000"/>
                </a:solidFill>
                <a:latin typeface="Perpetua" pitchFamily="18" charset="0"/>
              </a:rPr>
              <a:t>:</a:t>
            </a:r>
            <a:endParaRPr lang="en-US" dirty="0" smtClean="0">
              <a:solidFill>
                <a:srgbClr val="000000"/>
              </a:solidFill>
              <a:latin typeface="Perpetua" pitchFamily="18" charset="0"/>
            </a:endParaRPr>
          </a:p>
          <a:p>
            <a:pPr marL="0" indent="0">
              <a:buNone/>
            </a:pPr>
            <a:r>
              <a:rPr lang="en-US" dirty="0" smtClean="0">
                <a:solidFill>
                  <a:srgbClr val="000000"/>
                </a:solidFill>
                <a:latin typeface="Perpetua" pitchFamily="18" charset="0"/>
              </a:rPr>
              <a:t> LD</a:t>
            </a:r>
            <a:r>
              <a:rPr lang="en-US" baseline="-25000" dirty="0" smtClean="0">
                <a:solidFill>
                  <a:srgbClr val="000000"/>
                </a:solidFill>
                <a:latin typeface="Perpetua" pitchFamily="18" charset="0"/>
              </a:rPr>
              <a:t>50</a:t>
            </a:r>
            <a:r>
              <a:rPr lang="en-US" dirty="0" smtClean="0">
                <a:solidFill>
                  <a:srgbClr val="000000"/>
                </a:solidFill>
                <a:latin typeface="Perpetua" pitchFamily="18" charset="0"/>
              </a:rPr>
              <a:t> = √D</a:t>
            </a:r>
            <a:r>
              <a:rPr lang="en-US" baseline="-25000" dirty="0" smtClean="0">
                <a:solidFill>
                  <a:srgbClr val="000000"/>
                </a:solidFill>
                <a:latin typeface="Perpetua" pitchFamily="18" charset="0"/>
              </a:rPr>
              <a:t>0</a:t>
            </a:r>
            <a:r>
              <a:rPr lang="en-US" dirty="0" smtClean="0">
                <a:solidFill>
                  <a:srgbClr val="000000"/>
                </a:solidFill>
                <a:latin typeface="Perpetua" pitchFamily="18" charset="0"/>
              </a:rPr>
              <a:t> × D</a:t>
            </a:r>
            <a:r>
              <a:rPr lang="en-US" baseline="-25000" dirty="0" smtClean="0">
                <a:solidFill>
                  <a:srgbClr val="000000"/>
                </a:solidFill>
                <a:latin typeface="Perpetua" pitchFamily="18" charset="0"/>
              </a:rPr>
              <a:t>100</a:t>
            </a:r>
            <a:endParaRPr lang="en-US" baseline="-25000" dirty="0">
              <a:solidFill>
                <a:srgbClr val="000000"/>
              </a:solidFill>
              <a:latin typeface="Perpetua" pitchFamily="18" charset="0"/>
            </a:endParaRPr>
          </a:p>
          <a:p>
            <a:pPr marL="0" indent="0">
              <a:buNone/>
            </a:pPr>
            <a:r>
              <a:rPr lang="en-US" dirty="0">
                <a:solidFill>
                  <a:srgbClr val="000000"/>
                </a:solidFill>
                <a:latin typeface="Perpetua" pitchFamily="18" charset="0"/>
              </a:rPr>
              <a:t>D</a:t>
            </a:r>
            <a:r>
              <a:rPr lang="en-US" baseline="-25000" dirty="0">
                <a:solidFill>
                  <a:srgbClr val="000000"/>
                </a:solidFill>
                <a:latin typeface="Perpetua" pitchFamily="18" charset="0"/>
              </a:rPr>
              <a:t>0</a:t>
            </a:r>
            <a:r>
              <a:rPr lang="en-US" dirty="0">
                <a:solidFill>
                  <a:srgbClr val="000000"/>
                </a:solidFill>
                <a:latin typeface="Perpetua" pitchFamily="18" charset="0"/>
              </a:rPr>
              <a:t> = Highest dose </a:t>
            </a:r>
            <a:r>
              <a:rPr lang="en-US" dirty="0" smtClean="0">
                <a:solidFill>
                  <a:srgbClr val="000000"/>
                </a:solidFill>
                <a:latin typeface="Perpetua" pitchFamily="18" charset="0"/>
              </a:rPr>
              <a:t>that produced no mortality</a:t>
            </a:r>
            <a:endParaRPr lang="en-US" dirty="0">
              <a:solidFill>
                <a:srgbClr val="000000"/>
              </a:solidFill>
              <a:latin typeface="Perpetua" pitchFamily="18" charset="0"/>
            </a:endParaRPr>
          </a:p>
          <a:p>
            <a:pPr marL="0" indent="0">
              <a:buNone/>
            </a:pPr>
            <a:r>
              <a:rPr lang="en-US" dirty="0">
                <a:solidFill>
                  <a:srgbClr val="000000"/>
                </a:solidFill>
                <a:latin typeface="Perpetua" pitchFamily="18" charset="0"/>
              </a:rPr>
              <a:t>D</a:t>
            </a:r>
            <a:r>
              <a:rPr lang="en-US" baseline="-25000" dirty="0">
                <a:solidFill>
                  <a:srgbClr val="000000"/>
                </a:solidFill>
                <a:latin typeface="Perpetua" pitchFamily="18" charset="0"/>
              </a:rPr>
              <a:t>100</a:t>
            </a:r>
            <a:r>
              <a:rPr lang="en-US" dirty="0">
                <a:solidFill>
                  <a:srgbClr val="000000"/>
                </a:solidFill>
                <a:latin typeface="Perpetua" pitchFamily="18" charset="0"/>
              </a:rPr>
              <a:t> = Lowest dose that produced mortality</a:t>
            </a:r>
            <a:endParaRPr lang="en-US" dirty="0">
              <a:solidFill>
                <a:srgbClr val="000000"/>
              </a:solidFill>
              <a:latin typeface="Perpetua"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457200" y="1295400"/>
            <a:ext cx="8305800" cy="5334000"/>
          </a:xfrm>
        </p:spPr>
        <p:txBody>
          <a:bodyPr/>
          <a:lstStyle/>
          <a:p>
            <a:r>
              <a:rPr lang="en-US" dirty="0" smtClean="0">
                <a:latin typeface="Perpetua" pitchFamily="18" charset="0"/>
              </a:rPr>
              <a:t>Fixed dose procedure (OECD TG 420)</a:t>
            </a:r>
            <a:endParaRPr lang="en-US" dirty="0" smtClean="0">
              <a:latin typeface="Perpetua" pitchFamily="18" charset="0"/>
            </a:endParaRPr>
          </a:p>
          <a:p>
            <a:pPr>
              <a:buFontTx/>
              <a:buChar char="-"/>
            </a:pPr>
            <a:r>
              <a:rPr lang="en-US" dirty="0" smtClean="0">
                <a:latin typeface="Perpetua" pitchFamily="18" charset="0"/>
              </a:rPr>
              <a:t>Introduced in 1992</a:t>
            </a:r>
            <a:endParaRPr lang="en-US" dirty="0" smtClean="0">
              <a:latin typeface="Perpetua" pitchFamily="18" charset="0"/>
            </a:endParaRPr>
          </a:p>
          <a:p>
            <a:pPr>
              <a:buFontTx/>
              <a:buChar char="-"/>
            </a:pPr>
            <a:r>
              <a:rPr lang="en-US" dirty="0" smtClean="0">
                <a:latin typeface="Perpetua" pitchFamily="18" charset="0"/>
              </a:rPr>
              <a:t>Test agent administered at fixed doses of 5, 50, 500 and 2000 mg/kg</a:t>
            </a:r>
            <a:endParaRPr lang="en-US" dirty="0" smtClean="0">
              <a:latin typeface="Perpetua" pitchFamily="18" charset="0"/>
            </a:endParaRPr>
          </a:p>
          <a:p>
            <a:pPr>
              <a:buFontTx/>
              <a:buChar char="-"/>
            </a:pPr>
            <a:r>
              <a:rPr lang="en-US" dirty="0" smtClean="0">
                <a:latin typeface="Perpetua" pitchFamily="18" charset="0"/>
              </a:rPr>
              <a:t>Uses equal ratio of male and female animals</a:t>
            </a:r>
            <a:endParaRPr lang="en-US" dirty="0" smtClean="0">
              <a:latin typeface="Perpetua" pitchFamily="18" charset="0"/>
            </a:endParaRPr>
          </a:p>
          <a:p>
            <a:pPr>
              <a:buFontTx/>
              <a:buChar char="-"/>
            </a:pPr>
            <a:endParaRPr lang="en-US" dirty="0" smtClean="0">
              <a:latin typeface="Perpet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457200" y="1143000"/>
            <a:ext cx="8229600" cy="4983163"/>
          </a:xfrm>
        </p:spPr>
        <p:txBody>
          <a:bodyPr/>
          <a:lstStyle/>
          <a:p>
            <a:r>
              <a:rPr lang="en-US" dirty="0" smtClean="0">
                <a:latin typeface="Perpetua" pitchFamily="18" charset="0"/>
              </a:rPr>
              <a:t>Acute toxic class method (OECD 423)</a:t>
            </a:r>
            <a:endParaRPr lang="en-US" dirty="0" smtClean="0">
              <a:latin typeface="Perpetua" pitchFamily="18" charset="0"/>
            </a:endParaRPr>
          </a:p>
          <a:p>
            <a:pPr>
              <a:buFontTx/>
              <a:buChar char="-"/>
            </a:pPr>
            <a:r>
              <a:rPr lang="en-US" dirty="0" smtClean="0">
                <a:latin typeface="Perpetua" pitchFamily="18" charset="0"/>
              </a:rPr>
              <a:t>Introduced in 1996</a:t>
            </a:r>
            <a:endParaRPr lang="en-US" dirty="0" smtClean="0">
              <a:latin typeface="Perpetua" pitchFamily="18" charset="0"/>
            </a:endParaRPr>
          </a:p>
          <a:p>
            <a:pPr>
              <a:buFontTx/>
              <a:buChar char="-"/>
            </a:pPr>
            <a:r>
              <a:rPr lang="en-US" dirty="0" smtClean="0">
                <a:latin typeface="Perpetua" pitchFamily="18" charset="0"/>
              </a:rPr>
              <a:t>Test agent administered at dose levels of 5, 50, 300 and 2000 mg/kg</a:t>
            </a:r>
            <a:endParaRPr lang="en-US" dirty="0" smtClean="0">
              <a:latin typeface="Perpetua" pitchFamily="18" charset="0"/>
            </a:endParaRPr>
          </a:p>
          <a:p>
            <a:pPr>
              <a:buFontTx/>
              <a:buChar char="-"/>
            </a:pPr>
            <a:r>
              <a:rPr lang="en-US" dirty="0">
                <a:latin typeface="Perpetua" pitchFamily="18" charset="0"/>
              </a:rPr>
              <a:t>Reduced number of animals</a:t>
            </a:r>
            <a:endParaRPr lang="en-US" dirty="0">
              <a:latin typeface="Perpetua" pitchFamily="18" charset="0"/>
            </a:endParaRPr>
          </a:p>
          <a:p>
            <a:pPr>
              <a:buFontTx/>
              <a:buChar char="-"/>
            </a:pPr>
            <a:r>
              <a:rPr lang="en-US" dirty="0">
                <a:latin typeface="Perpetua" pitchFamily="18" charset="0"/>
              </a:rPr>
              <a:t>Mortality is not the only end point</a:t>
            </a:r>
            <a:endParaRPr lang="en-US" dirty="0">
              <a:latin typeface="Perpetua" pitchFamily="18" charset="0"/>
            </a:endParaRPr>
          </a:p>
          <a:p>
            <a:pPr>
              <a:buFontTx/>
              <a:buChar char="-"/>
            </a:pPr>
            <a:r>
              <a:rPr lang="en-US" dirty="0">
                <a:latin typeface="Perpetua" pitchFamily="18" charset="0"/>
              </a:rPr>
              <a:t>Signs of toxicity are also used in estimation of LD</a:t>
            </a:r>
            <a:r>
              <a:rPr lang="en-US" baseline="-25000" dirty="0">
                <a:latin typeface="Perpetua" pitchFamily="18" charset="0"/>
              </a:rPr>
              <a:t>50.</a:t>
            </a:r>
            <a:endParaRPr lang="en-US" baseline="-25000" dirty="0">
              <a:latin typeface="Perpetua" pitchFamily="18" charset="0"/>
            </a:endParaRPr>
          </a:p>
          <a:p>
            <a:pPr>
              <a:buFontTx/>
              <a:buChar char="-"/>
            </a:pPr>
            <a:endParaRPr lang="en-US" dirty="0" smtClean="0">
              <a:latin typeface="Perpetua" pitchFamily="18" charset="0"/>
            </a:endParaRPr>
          </a:p>
          <a:p>
            <a:pPr>
              <a:buFontTx/>
              <a:buChar char="-"/>
            </a:pPr>
            <a:endParaRPr lang="en-US" dirty="0">
              <a:latin typeface="Perpetua"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457200" y="1295400"/>
            <a:ext cx="8382000" cy="5334000"/>
          </a:xfrm>
        </p:spPr>
        <p:txBody>
          <a:bodyPr>
            <a:normAutofit/>
          </a:bodyPr>
          <a:lstStyle/>
          <a:p>
            <a:r>
              <a:rPr lang="en-US" sz="2400" dirty="0" smtClean="0">
                <a:latin typeface="Perpetua" pitchFamily="18" charset="0"/>
              </a:rPr>
              <a:t>Up and down method (OECD TG 425)</a:t>
            </a:r>
            <a:endParaRPr lang="en-US" sz="2400" dirty="0" smtClean="0">
              <a:latin typeface="Perpetua" pitchFamily="18" charset="0"/>
            </a:endParaRPr>
          </a:p>
          <a:p>
            <a:pPr>
              <a:buFontTx/>
              <a:buChar char="-"/>
            </a:pPr>
            <a:r>
              <a:rPr lang="en-US" sz="2400" dirty="0" smtClean="0">
                <a:latin typeface="Perpetua" pitchFamily="18" charset="0"/>
              </a:rPr>
              <a:t>Introduced in 1998</a:t>
            </a:r>
            <a:endParaRPr lang="en-US" sz="2400" dirty="0" smtClean="0">
              <a:latin typeface="Perpetua" pitchFamily="18" charset="0"/>
            </a:endParaRPr>
          </a:p>
          <a:p>
            <a:pPr>
              <a:buFontTx/>
              <a:buChar char="-"/>
            </a:pPr>
            <a:r>
              <a:rPr lang="en-US" sz="2400" dirty="0" smtClean="0">
                <a:latin typeface="Perpetua" pitchFamily="18" charset="0"/>
              </a:rPr>
              <a:t>Animals are dosed increasingly or decreasingly using a factor of 3.2</a:t>
            </a:r>
            <a:endParaRPr lang="en-US" sz="2400" dirty="0" smtClean="0">
              <a:latin typeface="Perpetua" pitchFamily="18" charset="0"/>
            </a:endParaRPr>
          </a:p>
          <a:p>
            <a:pPr>
              <a:buFontTx/>
              <a:buChar char="-"/>
            </a:pPr>
            <a:r>
              <a:rPr lang="en-US" sz="2400" dirty="0" smtClean="0">
                <a:latin typeface="Perpetua" pitchFamily="18" charset="0"/>
              </a:rPr>
              <a:t>If no mortality observed, animals are administered 2000 mg/kg or 5000 mg/kg of test agent and observed for toxicity and mortality.</a:t>
            </a:r>
            <a:endParaRPr lang="en-US" sz="2400" dirty="0" smtClean="0">
              <a:latin typeface="Perpetua" pitchFamily="18" charset="0"/>
            </a:endParaRPr>
          </a:p>
          <a:p>
            <a:pPr>
              <a:buFontTx/>
              <a:buChar char="-"/>
            </a:pPr>
            <a:r>
              <a:rPr lang="en-US" sz="2400" dirty="0" smtClean="0">
                <a:latin typeface="Perpetua" pitchFamily="18" charset="0"/>
              </a:rPr>
              <a:t>LD</a:t>
            </a:r>
            <a:r>
              <a:rPr lang="en-US" sz="2400" baseline="-25000" dirty="0" smtClean="0">
                <a:latin typeface="Perpetua" pitchFamily="18" charset="0"/>
              </a:rPr>
              <a:t>50</a:t>
            </a:r>
            <a:r>
              <a:rPr lang="en-US" sz="2400" dirty="0" smtClean="0">
                <a:latin typeface="Perpetua" pitchFamily="18" charset="0"/>
              </a:rPr>
              <a:t> is then estimated as greater than 2000 mg/kg or 5000 mg/kg if no mortality was observed.</a:t>
            </a:r>
            <a:endParaRPr lang="en-US" sz="2400" dirty="0" smtClean="0">
              <a:latin typeface="Perpet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b="1" dirty="0" smtClean="0">
                <a:latin typeface="Perpetua" pitchFamily="18" charset="0"/>
              </a:rPr>
              <a:t>Oral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457200" y="914400"/>
            <a:ext cx="8229600" cy="5211763"/>
          </a:xfrm>
        </p:spPr>
        <p:txBody>
          <a:bodyPr>
            <a:normAutofit/>
          </a:bodyPr>
          <a:lstStyle/>
          <a:p>
            <a:r>
              <a:rPr lang="en-US" dirty="0" smtClean="0">
                <a:latin typeface="Perpetua" pitchFamily="18" charset="0"/>
              </a:rPr>
              <a:t>Parameters and factors monitored are as follows:</a:t>
            </a:r>
            <a:endParaRPr lang="en-US" dirty="0" smtClean="0">
              <a:latin typeface="Perpetua" pitchFamily="18" charset="0"/>
            </a:endParaRPr>
          </a:p>
          <a:p>
            <a:pPr>
              <a:buFontTx/>
              <a:buChar char="-"/>
            </a:pPr>
            <a:r>
              <a:rPr lang="en-US" dirty="0" smtClean="0">
                <a:latin typeface="Perpetua" pitchFamily="18" charset="0"/>
              </a:rPr>
              <a:t>Randomization of animals</a:t>
            </a:r>
            <a:endParaRPr lang="en-US" dirty="0" smtClean="0">
              <a:latin typeface="Perpetua" pitchFamily="18" charset="0"/>
            </a:endParaRPr>
          </a:p>
          <a:p>
            <a:pPr>
              <a:buFontTx/>
              <a:buChar char="-"/>
            </a:pPr>
            <a:r>
              <a:rPr lang="en-US" dirty="0" smtClean="0">
                <a:latin typeface="Perpetua" pitchFamily="18" charset="0"/>
              </a:rPr>
              <a:t>Maintenance of a narrow range of body weights</a:t>
            </a:r>
            <a:endParaRPr lang="en-US" dirty="0" smtClean="0">
              <a:latin typeface="Perpetua" pitchFamily="18" charset="0"/>
            </a:endParaRPr>
          </a:p>
          <a:p>
            <a:pPr>
              <a:buFontTx/>
              <a:buChar char="-"/>
            </a:pPr>
            <a:r>
              <a:rPr lang="en-US" dirty="0" smtClean="0">
                <a:latin typeface="Perpetua" pitchFamily="18" charset="0"/>
              </a:rPr>
              <a:t>Appropriate number of animals per group</a:t>
            </a:r>
            <a:endParaRPr lang="en-US" dirty="0" smtClean="0">
              <a:latin typeface="Perpetua" pitchFamily="18" charset="0"/>
            </a:endParaRPr>
          </a:p>
          <a:p>
            <a:pPr>
              <a:buFontTx/>
              <a:buChar char="-"/>
            </a:pPr>
            <a:r>
              <a:rPr lang="en-US" dirty="0" smtClean="0">
                <a:latin typeface="Perpetua" pitchFamily="18" charset="0"/>
              </a:rPr>
              <a:t>Identification of individual test subjects</a:t>
            </a:r>
            <a:endParaRPr lang="en-US" dirty="0" smtClean="0">
              <a:latin typeface="Perpetua" pitchFamily="18" charset="0"/>
            </a:endParaRPr>
          </a:p>
          <a:p>
            <a:pPr>
              <a:buFontTx/>
              <a:buChar char="-"/>
            </a:pPr>
            <a:r>
              <a:rPr lang="en-US" dirty="0" smtClean="0">
                <a:latin typeface="Perpetua" pitchFamily="18" charset="0"/>
              </a:rPr>
              <a:t>Fasting (16 – 24 h)</a:t>
            </a:r>
            <a:endParaRPr lang="en-US" dirty="0" smtClean="0">
              <a:latin typeface="Perpetua" pitchFamily="18" charset="0"/>
            </a:endParaRPr>
          </a:p>
          <a:p>
            <a:pPr>
              <a:buFontTx/>
              <a:buChar char="-"/>
            </a:pPr>
            <a:r>
              <a:rPr lang="en-US" dirty="0" smtClean="0">
                <a:latin typeface="Perpetua" pitchFamily="18" charset="0"/>
              </a:rPr>
              <a:t>Availability of water </a:t>
            </a:r>
            <a:r>
              <a:rPr lang="en-US" i="1" dirty="0" smtClean="0">
                <a:latin typeface="Perpetua" pitchFamily="18" charset="0"/>
              </a:rPr>
              <a:t>ad libitum</a:t>
            </a:r>
            <a:endParaRPr lang="en-US" i="1" dirty="0">
              <a:latin typeface="Perpetua"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pPr>
              <a:buFontTx/>
              <a:buChar char="-"/>
            </a:pPr>
            <a:r>
              <a:rPr lang="en-US" dirty="0" smtClean="0">
                <a:latin typeface="Perpetua" pitchFamily="18" charset="0"/>
              </a:rPr>
              <a:t>Unbiased distribution into groups</a:t>
            </a:r>
            <a:endParaRPr lang="en-US" dirty="0" smtClean="0">
              <a:latin typeface="Perpetua" pitchFamily="18" charset="0"/>
            </a:endParaRPr>
          </a:p>
          <a:p>
            <a:pPr>
              <a:buFontTx/>
              <a:buChar char="-"/>
            </a:pPr>
            <a:r>
              <a:rPr lang="en-US" dirty="0" smtClean="0">
                <a:latin typeface="Perpetua" pitchFamily="18" charset="0"/>
              </a:rPr>
              <a:t>Uniform distribution of similar sized animals</a:t>
            </a:r>
            <a:endParaRPr lang="en-US" dirty="0" smtClean="0">
              <a:latin typeface="Perpetua" pitchFamily="18" charset="0"/>
            </a:endParaRPr>
          </a:p>
          <a:p>
            <a:pPr>
              <a:buFontTx/>
              <a:buChar char="-"/>
            </a:pPr>
            <a:r>
              <a:rPr lang="en-US" dirty="0" smtClean="0">
                <a:latin typeface="Perpetua" pitchFamily="18" charset="0"/>
              </a:rPr>
              <a:t>Optimal GI absorption</a:t>
            </a:r>
            <a:endParaRPr lang="en-US" dirty="0" smtClean="0">
              <a:latin typeface="Perpetua" pitchFamily="18" charset="0"/>
            </a:endParaRPr>
          </a:p>
          <a:p>
            <a:pPr>
              <a:buFontTx/>
              <a:buChar char="-"/>
            </a:pPr>
            <a:r>
              <a:rPr lang="en-US" dirty="0" smtClean="0">
                <a:latin typeface="Perpetua" pitchFamily="18" charset="0"/>
              </a:rPr>
              <a:t>Prevention of dehydration</a:t>
            </a:r>
            <a:endParaRPr lang="en-US" dirty="0">
              <a:latin typeface="Perpetua"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smtClean="0">
                <a:latin typeface="Perpetua" pitchFamily="18" charset="0"/>
              </a:rPr>
              <a:t>Ocular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a:xfrm>
            <a:off x="457200" y="762000"/>
            <a:ext cx="8458200" cy="5791200"/>
          </a:xfrm>
        </p:spPr>
        <p:txBody>
          <a:bodyPr>
            <a:normAutofit/>
          </a:bodyPr>
          <a:lstStyle/>
          <a:p>
            <a:r>
              <a:rPr lang="en-US" sz="2800" dirty="0" smtClean="0">
                <a:latin typeface="Perpetua" pitchFamily="18" charset="0"/>
              </a:rPr>
              <a:t>Introduced in 1944</a:t>
            </a:r>
            <a:endParaRPr lang="en-US" sz="2800" dirty="0" smtClean="0">
              <a:latin typeface="Perpetua" pitchFamily="18" charset="0"/>
            </a:endParaRPr>
          </a:p>
          <a:p>
            <a:r>
              <a:rPr lang="en-US" sz="2800" dirty="0" smtClean="0">
                <a:latin typeface="Perpetua" pitchFamily="18" charset="0"/>
              </a:rPr>
              <a:t>Used to identify substances that causes eye irritation or corrosion.</a:t>
            </a:r>
            <a:endParaRPr lang="en-US" sz="2800" dirty="0" smtClean="0">
              <a:latin typeface="Perpetua" pitchFamily="18" charset="0"/>
            </a:endParaRPr>
          </a:p>
          <a:p>
            <a:r>
              <a:rPr lang="en-US" sz="2800" dirty="0" smtClean="0">
                <a:latin typeface="Perpetua" pitchFamily="18" charset="0"/>
              </a:rPr>
              <a:t>Injury caused by irritation is reversible while corrosion is irreversible.</a:t>
            </a:r>
            <a:endParaRPr lang="en-US" sz="2800" dirty="0" smtClean="0">
              <a:latin typeface="Perpetua" pitchFamily="18" charset="0"/>
            </a:endParaRPr>
          </a:p>
          <a:p>
            <a:r>
              <a:rPr lang="en-US" sz="2800" dirty="0" smtClean="0">
                <a:latin typeface="Perpetua" pitchFamily="18" charset="0"/>
              </a:rPr>
              <a:t>Referred to as </a:t>
            </a:r>
            <a:r>
              <a:rPr lang="en-US" sz="2800" dirty="0" err="1">
                <a:latin typeface="Perpetua" pitchFamily="18" charset="0"/>
              </a:rPr>
              <a:t>D</a:t>
            </a:r>
            <a:r>
              <a:rPr lang="en-US" sz="2800" dirty="0" err="1" smtClean="0">
                <a:latin typeface="Perpetua" pitchFamily="18" charset="0"/>
              </a:rPr>
              <a:t>raize</a:t>
            </a:r>
            <a:r>
              <a:rPr lang="en-US" sz="2800" dirty="0" smtClean="0">
                <a:latin typeface="Perpetua" pitchFamily="18" charset="0"/>
              </a:rPr>
              <a:t> test</a:t>
            </a:r>
            <a:endParaRPr lang="en-US" sz="2800" dirty="0" smtClean="0">
              <a:latin typeface="Perpetua" pitchFamily="18" charset="0"/>
            </a:endParaRPr>
          </a:p>
          <a:p>
            <a:r>
              <a:rPr lang="en-US" sz="2800" dirty="0" smtClean="0">
                <a:latin typeface="Perpetua" pitchFamily="18" charset="0"/>
              </a:rPr>
              <a:t>It is performed by placing the test agent into the eye of the test animal (usually rabbits) while the other eye serves as control</a:t>
            </a:r>
            <a:endParaRPr lang="en-US" sz="2800" dirty="0" smtClean="0">
              <a:latin typeface="Perpetua" pitchFamily="18" charset="0"/>
            </a:endParaRPr>
          </a:p>
          <a:p>
            <a:r>
              <a:rPr lang="en-US" sz="2800" dirty="0" smtClean="0">
                <a:latin typeface="Perpetua" pitchFamily="18" charset="0"/>
              </a:rPr>
              <a:t>The eyes are kept open with the use of clips to prevent blinking while the animals are restrained.</a:t>
            </a:r>
            <a:endParaRPr lang="en-US" sz="2800" dirty="0" smtClean="0">
              <a:latin typeface="Perpetua"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Dermal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p:txBody>
          <a:bodyPr>
            <a:normAutofit/>
          </a:bodyPr>
          <a:lstStyle/>
          <a:p>
            <a:r>
              <a:rPr lang="en-US" dirty="0" smtClean="0">
                <a:latin typeface="Perpetua" pitchFamily="18" charset="0"/>
              </a:rPr>
              <a:t>Dermal LD</a:t>
            </a:r>
            <a:r>
              <a:rPr lang="en-US" baseline="-25000" dirty="0" smtClean="0">
                <a:latin typeface="Perpetua" pitchFamily="18" charset="0"/>
              </a:rPr>
              <a:t>50 </a:t>
            </a:r>
            <a:r>
              <a:rPr lang="en-US" dirty="0" smtClean="0">
                <a:latin typeface="Perpetua" pitchFamily="18" charset="0"/>
              </a:rPr>
              <a:t>studies are conducted on toxicants if the route of exposure is through skin absorption.</a:t>
            </a:r>
            <a:endParaRPr lang="en-US" dirty="0" smtClean="0">
              <a:latin typeface="Perpetua" pitchFamily="18" charset="0"/>
            </a:endParaRPr>
          </a:p>
          <a:p>
            <a:r>
              <a:rPr lang="en-US" dirty="0" smtClean="0">
                <a:latin typeface="Perpetua" pitchFamily="18" charset="0"/>
              </a:rPr>
              <a:t>Test agent is applied in increasing doses to shaved skin across several groups of test animals.</a:t>
            </a:r>
            <a:endParaRPr lang="en-US" dirty="0" smtClean="0">
              <a:latin typeface="Perpetua" pitchFamily="18" charset="0"/>
            </a:endParaRPr>
          </a:p>
          <a:p>
            <a:r>
              <a:rPr lang="en-US" dirty="0" smtClean="0">
                <a:latin typeface="Perpetua" pitchFamily="18" charset="0"/>
              </a:rPr>
              <a:t>Animals are shaved 24 h prior to test. 2 to 3 cm</a:t>
            </a:r>
            <a:r>
              <a:rPr lang="en-US" baseline="30000" dirty="0" smtClean="0">
                <a:latin typeface="Perpetua" pitchFamily="18" charset="0"/>
              </a:rPr>
              <a:t>2</a:t>
            </a:r>
            <a:r>
              <a:rPr lang="en-US" dirty="0" smtClean="0">
                <a:latin typeface="Perpetua" pitchFamily="18" charset="0"/>
              </a:rPr>
              <a:t> for smaller animals and 3 to 5 cm</a:t>
            </a:r>
            <a:r>
              <a:rPr lang="en-US" baseline="30000" dirty="0" smtClean="0">
                <a:latin typeface="Perpetua" pitchFamily="18" charset="0"/>
              </a:rPr>
              <a:t>2</a:t>
            </a:r>
            <a:r>
              <a:rPr lang="en-US" dirty="0" smtClean="0">
                <a:latin typeface="Perpetua" pitchFamily="18" charset="0"/>
              </a:rPr>
              <a:t> for larger animals.</a:t>
            </a:r>
            <a:endParaRPr lang="en-US" dirty="0">
              <a:latin typeface="Perpetua" pitchFamily="18" charset="0"/>
            </a:endParaRP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a:latin typeface="Perpetua" pitchFamily="18" charset="0"/>
              </a:rPr>
              <a:t>Parameters and factors monitored are as follows:</a:t>
            </a:r>
            <a:endParaRPr lang="en-US" dirty="0">
              <a:latin typeface="Perpetua" pitchFamily="18" charset="0"/>
            </a:endParaRPr>
          </a:p>
          <a:p>
            <a:pPr>
              <a:buFontTx/>
              <a:buChar char="-"/>
            </a:pPr>
            <a:r>
              <a:rPr lang="en-US" dirty="0" smtClean="0">
                <a:latin typeface="Perpetua" pitchFamily="18" charset="0"/>
              </a:rPr>
              <a:t>Formulation; </a:t>
            </a:r>
            <a:r>
              <a:rPr lang="en-US" sz="1800" dirty="0" smtClean="0">
                <a:latin typeface="Perpetua" pitchFamily="18" charset="0"/>
              </a:rPr>
              <a:t>solids are dissolved in H</a:t>
            </a:r>
            <a:r>
              <a:rPr lang="en-US" sz="1800" baseline="-25000" dirty="0" smtClean="0">
                <a:latin typeface="Perpetua" pitchFamily="18" charset="0"/>
              </a:rPr>
              <a:t>2</a:t>
            </a:r>
            <a:r>
              <a:rPr lang="en-US" sz="1800" dirty="0" smtClean="0">
                <a:latin typeface="Perpetua" pitchFamily="18" charset="0"/>
              </a:rPr>
              <a:t>O or inert oil based liquid (DMSO, PG), liquid, paste, ointment or patch.</a:t>
            </a:r>
            <a:endParaRPr lang="en-US" sz="1800" dirty="0" smtClean="0">
              <a:latin typeface="Perpetua" pitchFamily="18" charset="0"/>
            </a:endParaRPr>
          </a:p>
          <a:p>
            <a:pPr>
              <a:buFontTx/>
              <a:buChar char="-"/>
            </a:pPr>
            <a:r>
              <a:rPr lang="en-US" dirty="0" smtClean="0">
                <a:latin typeface="Perpetua" pitchFamily="18" charset="0"/>
              </a:rPr>
              <a:t>Application to skin; </a:t>
            </a:r>
            <a:r>
              <a:rPr lang="en-US" sz="1800" dirty="0" smtClean="0">
                <a:latin typeface="Perpetua" pitchFamily="18" charset="0"/>
              </a:rPr>
              <a:t>shave for 24 h prior to test, uniform application,</a:t>
            </a:r>
            <a:endParaRPr lang="en-US" sz="1800" dirty="0" smtClean="0">
              <a:latin typeface="Perpetua" pitchFamily="18" charset="0"/>
            </a:endParaRPr>
          </a:p>
          <a:p>
            <a:pPr>
              <a:buFontTx/>
              <a:buChar char="-"/>
            </a:pPr>
            <a:r>
              <a:rPr lang="en-US" dirty="0" smtClean="0">
                <a:latin typeface="Perpetua" pitchFamily="18" charset="0"/>
              </a:rPr>
              <a:t>Absorption of toxicant; </a:t>
            </a:r>
            <a:r>
              <a:rPr lang="en-US" sz="1800" dirty="0" smtClean="0">
                <a:latin typeface="Perpetua" pitchFamily="18" charset="0"/>
              </a:rPr>
              <a:t>depends on water-soluble or lipid-soluble properties</a:t>
            </a:r>
            <a:endParaRPr lang="en-US" sz="1800" dirty="0" smtClean="0">
              <a:latin typeface="Perpetua" pitchFamily="18" charset="0"/>
            </a:endParaRPr>
          </a:p>
          <a:p>
            <a:pPr>
              <a:buFontTx/>
              <a:buChar char="-"/>
            </a:pPr>
            <a:r>
              <a:rPr lang="en-US" dirty="0" smtClean="0">
                <a:latin typeface="Perpetua" pitchFamily="18" charset="0"/>
              </a:rPr>
              <a:t>Variability of result; </a:t>
            </a:r>
            <a:r>
              <a:rPr lang="en-US" sz="1800" dirty="0" smtClean="0">
                <a:latin typeface="Perpetua" pitchFamily="18" charset="0"/>
              </a:rPr>
              <a:t>dermal studies are associated with a high degree of variability.</a:t>
            </a:r>
            <a:endParaRPr lang="en-US" sz="1800" dirty="0" smtClean="0">
              <a:latin typeface="Perpetua"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Inhalation </a:t>
            </a:r>
            <a:r>
              <a:rPr lang="en-US" b="1" dirty="0" err="1" smtClean="0">
                <a:latin typeface="Perpetua" pitchFamily="18" charset="0"/>
              </a:rPr>
              <a:t>ATox</a:t>
            </a:r>
            <a:endParaRPr lang="en-US" b="1" dirty="0">
              <a:latin typeface="Perpetua" pitchFamily="18" charset="0"/>
            </a:endParaRPr>
          </a:p>
        </p:txBody>
      </p:sp>
      <p:sp>
        <p:nvSpPr>
          <p:cNvPr id="3" name="Content Placeholder 2"/>
          <p:cNvSpPr>
            <a:spLocks noGrp="1"/>
          </p:cNvSpPr>
          <p:nvPr>
            <p:ph idx="1"/>
          </p:nvPr>
        </p:nvSpPr>
        <p:spPr/>
        <p:txBody>
          <a:bodyPr>
            <a:normAutofit lnSpcReduction="10000"/>
          </a:bodyPr>
          <a:lstStyle/>
          <a:p>
            <a:r>
              <a:rPr lang="en-US" sz="2800" dirty="0" smtClean="0">
                <a:latin typeface="Perpetua" pitchFamily="18" charset="0"/>
              </a:rPr>
              <a:t>Inhalation LD</a:t>
            </a:r>
            <a:r>
              <a:rPr lang="en-US" sz="2800" baseline="-25000" dirty="0" smtClean="0">
                <a:latin typeface="Perpetua" pitchFamily="18" charset="0"/>
              </a:rPr>
              <a:t>50</a:t>
            </a:r>
            <a:r>
              <a:rPr lang="en-US" sz="2800" dirty="0" smtClean="0">
                <a:latin typeface="Perpetua" pitchFamily="18" charset="0"/>
              </a:rPr>
              <a:t> is performed on toxic substances transported via gases, aerosols, smoke or ventilation. </a:t>
            </a:r>
            <a:endParaRPr lang="en-US" sz="2800" dirty="0" smtClean="0">
              <a:latin typeface="Perpetua" pitchFamily="18" charset="0"/>
            </a:endParaRPr>
          </a:p>
          <a:p>
            <a:r>
              <a:rPr lang="en-US" sz="2800" dirty="0" smtClean="0">
                <a:latin typeface="Perpetua" pitchFamily="18" charset="0"/>
              </a:rPr>
              <a:t>Uses exposure chambers</a:t>
            </a:r>
            <a:endParaRPr lang="en-US" sz="2800" dirty="0" smtClean="0">
              <a:latin typeface="Perpetua" pitchFamily="18" charset="0"/>
            </a:endParaRPr>
          </a:p>
          <a:p>
            <a:r>
              <a:rPr lang="en-US" sz="2800" dirty="0" smtClean="0">
                <a:latin typeface="Perpetua" pitchFamily="18" charset="0"/>
              </a:rPr>
              <a:t>Animals are exposed to the test substance in increasing concentrations for 4 to 24 h</a:t>
            </a:r>
            <a:endParaRPr lang="en-US" sz="2800" dirty="0" smtClean="0">
              <a:latin typeface="Perpetua" pitchFamily="18" charset="0"/>
            </a:endParaRPr>
          </a:p>
          <a:p>
            <a:r>
              <a:rPr lang="en-US" sz="2800" dirty="0" smtClean="0">
                <a:latin typeface="Perpetua" pitchFamily="18" charset="0"/>
              </a:rPr>
              <a:t>The range of doses or concentration produces corresponding toxic effects and mortality</a:t>
            </a:r>
            <a:endParaRPr lang="en-US" sz="2800" dirty="0" smtClean="0">
              <a:latin typeface="Perpetua" pitchFamily="18" charset="0"/>
            </a:endParaRPr>
          </a:p>
          <a:p>
            <a:r>
              <a:rPr lang="en-US" sz="2800" dirty="0" smtClean="0">
                <a:latin typeface="Perpetua" pitchFamily="18" charset="0"/>
              </a:rPr>
              <a:t>LD</a:t>
            </a:r>
            <a:r>
              <a:rPr lang="en-US" sz="2800" baseline="-25000" dirty="0" smtClean="0">
                <a:latin typeface="Perpetua" pitchFamily="18" charset="0"/>
              </a:rPr>
              <a:t>50</a:t>
            </a:r>
            <a:r>
              <a:rPr lang="en-US" sz="2800" dirty="0" smtClean="0">
                <a:latin typeface="Perpetua" pitchFamily="18" charset="0"/>
              </a:rPr>
              <a:t> or LC</a:t>
            </a:r>
            <a:r>
              <a:rPr lang="en-US" sz="2800" baseline="-25000" dirty="0" smtClean="0">
                <a:latin typeface="Perpetua" pitchFamily="18" charset="0"/>
              </a:rPr>
              <a:t>50</a:t>
            </a:r>
            <a:r>
              <a:rPr lang="en-US" sz="2800" dirty="0" smtClean="0">
                <a:latin typeface="Perpetua" pitchFamily="18" charset="0"/>
              </a:rPr>
              <a:t> is then estimated.</a:t>
            </a:r>
            <a:endParaRPr lang="en-US" sz="2800" dirty="0" smtClean="0">
              <a:latin typeface="Perpetua"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a:latin typeface="Perpetua" pitchFamily="18" charset="0"/>
              </a:rPr>
              <a:t>Parameters and factors monitored are as follows:</a:t>
            </a:r>
            <a:endParaRPr lang="en-US" dirty="0">
              <a:latin typeface="Perpetua" pitchFamily="18" charset="0"/>
            </a:endParaRPr>
          </a:p>
          <a:p>
            <a:pPr>
              <a:buFontTx/>
              <a:buChar char="-"/>
            </a:pPr>
            <a:r>
              <a:rPr lang="en-US" dirty="0" smtClean="0">
                <a:latin typeface="Perpetua" pitchFamily="18" charset="0"/>
              </a:rPr>
              <a:t>Concentration of delivered test agent; </a:t>
            </a:r>
            <a:r>
              <a:rPr lang="en-US" sz="1800" dirty="0" smtClean="0">
                <a:latin typeface="Perpetua" pitchFamily="18" charset="0"/>
              </a:rPr>
              <a:t>airflow rate into chamber, air temperature, humidity</a:t>
            </a:r>
            <a:endParaRPr lang="en-US" sz="1800" dirty="0" smtClean="0">
              <a:latin typeface="Perpetua" pitchFamily="18" charset="0"/>
            </a:endParaRPr>
          </a:p>
          <a:p>
            <a:pPr>
              <a:buFontTx/>
              <a:buChar char="-"/>
            </a:pPr>
            <a:r>
              <a:rPr lang="en-US" dirty="0" smtClean="0">
                <a:latin typeface="Perpetua" pitchFamily="18" charset="0"/>
              </a:rPr>
              <a:t>Particle size; </a:t>
            </a:r>
            <a:r>
              <a:rPr lang="en-US" sz="1800" dirty="0" smtClean="0">
                <a:latin typeface="Perpetua" pitchFamily="18" charset="0"/>
              </a:rPr>
              <a:t>determines distribution to target organ (lower or upper respiratory tract)</a:t>
            </a:r>
            <a:endParaRPr lang="en-US" sz="1800" dirty="0" smtClean="0">
              <a:latin typeface="Perpetua" pitchFamily="18" charset="0"/>
            </a:endParaRPr>
          </a:p>
          <a:p>
            <a:pPr>
              <a:buFontTx/>
              <a:buChar char="-"/>
            </a:pPr>
            <a:r>
              <a:rPr lang="en-US" dirty="0" smtClean="0">
                <a:latin typeface="Perpetua" pitchFamily="18" charset="0"/>
              </a:rPr>
              <a:t>Respiration rate; </a:t>
            </a:r>
            <a:r>
              <a:rPr lang="en-US" sz="1800" dirty="0" smtClean="0">
                <a:latin typeface="Perpetua" pitchFamily="18" charset="0"/>
              </a:rPr>
              <a:t>Light and dark cycles affect respiration rate; contact with irritant results in behavioral, secretory and inflammatory responses which may alter exposure rate.</a:t>
            </a:r>
            <a:endParaRPr lang="en-US" sz="1800" dirty="0">
              <a:latin typeface="Perpetua"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Perpetua" pitchFamily="18" charset="0"/>
              </a:rPr>
              <a:t>Application of LD</a:t>
            </a:r>
            <a:r>
              <a:rPr lang="en-US" b="1" baseline="-25000" dirty="0" smtClean="0">
                <a:latin typeface="Perpetua" pitchFamily="18" charset="0"/>
              </a:rPr>
              <a:t>50</a:t>
            </a:r>
            <a:r>
              <a:rPr lang="en-US" b="1" dirty="0" smtClean="0">
                <a:latin typeface="Perpetua" pitchFamily="18" charset="0"/>
              </a:rPr>
              <a:t> in </a:t>
            </a:r>
            <a:r>
              <a:rPr lang="en-US" b="1" dirty="0" err="1" smtClean="0">
                <a:latin typeface="Perpetua" pitchFamily="18" charset="0"/>
              </a:rPr>
              <a:t>Atox</a:t>
            </a:r>
            <a:r>
              <a:rPr lang="en-US" b="1" dirty="0" smtClean="0">
                <a:latin typeface="Perpetua" pitchFamily="18" charset="0"/>
              </a:rPr>
              <a:t> studies</a:t>
            </a:r>
            <a:endParaRPr lang="en-US" b="1" dirty="0">
              <a:latin typeface="Perpetua" pitchFamily="18" charset="0"/>
            </a:endParaRPr>
          </a:p>
        </p:txBody>
      </p:sp>
      <p:sp>
        <p:nvSpPr>
          <p:cNvPr id="3" name="Content Placeholder 2"/>
          <p:cNvSpPr>
            <a:spLocks noGrp="1"/>
          </p:cNvSpPr>
          <p:nvPr>
            <p:ph idx="1"/>
          </p:nvPr>
        </p:nvSpPr>
        <p:spPr/>
        <p:txBody>
          <a:bodyPr>
            <a:normAutofit/>
          </a:bodyPr>
          <a:lstStyle/>
          <a:p>
            <a:r>
              <a:rPr lang="en-US" dirty="0" smtClean="0">
                <a:latin typeface="Perpetua" pitchFamily="18" charset="0"/>
              </a:rPr>
              <a:t>LD</a:t>
            </a:r>
            <a:r>
              <a:rPr lang="en-US" baseline="-25000" dirty="0" smtClean="0">
                <a:latin typeface="Perpetua" pitchFamily="18" charset="0"/>
              </a:rPr>
              <a:t>50</a:t>
            </a:r>
            <a:r>
              <a:rPr lang="en-US" dirty="0" smtClean="0">
                <a:latin typeface="Perpetua" pitchFamily="18" charset="0"/>
              </a:rPr>
              <a:t> provides a measure of relative toxicities of chemicals under similar or identical conditions.</a:t>
            </a:r>
            <a:endParaRPr lang="en-US" dirty="0" smtClean="0">
              <a:latin typeface="Perpetua" pitchFamily="18" charset="0"/>
            </a:endParaRPr>
          </a:p>
          <a:p>
            <a:r>
              <a:rPr lang="en-US" dirty="0" smtClean="0">
                <a:latin typeface="Perpetua" pitchFamily="18" charset="0"/>
              </a:rPr>
              <a:t>It allows for semi-quantitative toxic evaluation of compounds.</a:t>
            </a:r>
            <a:endParaRPr lang="en-US" dirty="0" smtClean="0">
              <a:latin typeface="Perpetua" pitchFamily="18" charset="0"/>
            </a:endParaRPr>
          </a:p>
          <a:p>
            <a:endParaRPr lang="en-US" dirty="0">
              <a:latin typeface="Perpetua" pitchFamily="18" charset="0"/>
            </a:endParaRPr>
          </a:p>
          <a:p>
            <a:r>
              <a:rPr lang="en-US" dirty="0" smtClean="0">
                <a:latin typeface="Perpetua" pitchFamily="18" charset="0"/>
              </a:rPr>
              <a:t>It provides a screening method for toxic evaluation especially of new unclassified substances.</a:t>
            </a:r>
            <a:endParaRPr lang="en-US" dirty="0">
              <a:latin typeface="Perpetua"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lstStyle/>
          <a:p>
            <a:r>
              <a:rPr lang="en-US" b="1" dirty="0" smtClean="0">
                <a:latin typeface="Perpetua" pitchFamily="18" charset="0"/>
              </a:rPr>
              <a:t>References for further reading</a:t>
            </a:r>
            <a:endParaRPr lang="en-US" b="1" dirty="0">
              <a:latin typeface="Perpetua" pitchFamily="18" charset="0"/>
            </a:endParaRPr>
          </a:p>
        </p:txBody>
      </p:sp>
      <p:sp>
        <p:nvSpPr>
          <p:cNvPr id="3" name="Content Placeholder 2"/>
          <p:cNvSpPr>
            <a:spLocks noGrp="1"/>
          </p:cNvSpPr>
          <p:nvPr>
            <p:ph idx="1"/>
          </p:nvPr>
        </p:nvSpPr>
        <p:spPr>
          <a:xfrm>
            <a:off x="457200" y="914400"/>
            <a:ext cx="8534400" cy="5211763"/>
          </a:xfrm>
        </p:spPr>
        <p:txBody>
          <a:bodyPr>
            <a:normAutofit lnSpcReduction="10000"/>
          </a:bodyPr>
          <a:lstStyle/>
          <a:p>
            <a:r>
              <a:rPr lang="en-US" dirty="0" err="1">
                <a:latin typeface="Perpetua" pitchFamily="18" charset="0"/>
              </a:rPr>
              <a:t>Erhirhie</a:t>
            </a:r>
            <a:r>
              <a:rPr lang="en-US" dirty="0">
                <a:latin typeface="Perpetua" pitchFamily="18" charset="0"/>
              </a:rPr>
              <a:t> EO, </a:t>
            </a:r>
            <a:r>
              <a:rPr lang="en-US" dirty="0" err="1">
                <a:latin typeface="Perpetua" pitchFamily="18" charset="0"/>
              </a:rPr>
              <a:t>Ihekwereme</a:t>
            </a:r>
            <a:r>
              <a:rPr lang="en-US" dirty="0">
                <a:latin typeface="Perpetua" pitchFamily="18" charset="0"/>
              </a:rPr>
              <a:t> CP, </a:t>
            </a:r>
            <a:r>
              <a:rPr lang="en-US" dirty="0" err="1">
                <a:latin typeface="Perpetua" pitchFamily="18" charset="0"/>
              </a:rPr>
              <a:t>Ilodigwe</a:t>
            </a:r>
            <a:r>
              <a:rPr lang="en-US" dirty="0">
                <a:latin typeface="Perpetua" pitchFamily="18" charset="0"/>
              </a:rPr>
              <a:t> EE. Advances in acute toxicity testing: strengths, weaknesses and regulatory acceptance. </a:t>
            </a:r>
            <a:r>
              <a:rPr lang="en-US" dirty="0" err="1">
                <a:latin typeface="Perpetua" pitchFamily="18" charset="0"/>
              </a:rPr>
              <a:t>Interdiscip</a:t>
            </a:r>
            <a:r>
              <a:rPr lang="en-US" dirty="0">
                <a:latin typeface="Perpetua" pitchFamily="18" charset="0"/>
              </a:rPr>
              <a:t> </a:t>
            </a:r>
            <a:r>
              <a:rPr lang="en-US" dirty="0" err="1">
                <a:latin typeface="Perpetua" pitchFamily="18" charset="0"/>
              </a:rPr>
              <a:t>Toxicol</a:t>
            </a:r>
            <a:r>
              <a:rPr lang="en-US" dirty="0">
                <a:latin typeface="Perpetua" pitchFamily="18" charset="0"/>
              </a:rPr>
              <a:t>. 2018;11(1):5-12. doi:10.2478/intox-2018-0001</a:t>
            </a:r>
            <a:endParaRPr lang="en-US" dirty="0">
              <a:latin typeface="Perpetua" pitchFamily="18" charset="0"/>
            </a:endParaRPr>
          </a:p>
          <a:p>
            <a:r>
              <a:rPr lang="en-US" dirty="0" err="1" smtClean="0">
                <a:latin typeface="Perpetua" pitchFamily="18" charset="0"/>
              </a:rPr>
              <a:t>Enegide</a:t>
            </a:r>
            <a:r>
              <a:rPr lang="en-US" dirty="0" smtClean="0">
                <a:latin typeface="Perpetua" pitchFamily="18" charset="0"/>
              </a:rPr>
              <a:t> </a:t>
            </a:r>
            <a:r>
              <a:rPr lang="en-US" dirty="0">
                <a:latin typeface="Perpetua" pitchFamily="18" charset="0"/>
              </a:rPr>
              <a:t>C, David A, Fidelis SA. A New Method for Determining Acute Toxicity in Animal Models. </a:t>
            </a:r>
            <a:r>
              <a:rPr lang="en-US" dirty="0" err="1">
                <a:latin typeface="Perpetua" pitchFamily="18" charset="0"/>
              </a:rPr>
              <a:t>Toxicol</a:t>
            </a:r>
            <a:r>
              <a:rPr lang="en-US" dirty="0">
                <a:latin typeface="Perpetua" pitchFamily="18" charset="0"/>
              </a:rPr>
              <a:t> Int. 2013;20(3):224–226</a:t>
            </a:r>
            <a:r>
              <a:rPr lang="en-US" dirty="0" smtClean="0">
                <a:latin typeface="Perpetua" pitchFamily="18" charset="0"/>
              </a:rPr>
              <a:t>.</a:t>
            </a:r>
            <a:endParaRPr lang="en-US" dirty="0" smtClean="0">
              <a:latin typeface="Perpetua" pitchFamily="18" charset="0"/>
            </a:endParaRPr>
          </a:p>
          <a:p>
            <a:r>
              <a:rPr lang="en-US" dirty="0" err="1">
                <a:latin typeface="Perpetua" pitchFamily="18" charset="0"/>
              </a:rPr>
              <a:t>Chinedu</a:t>
            </a:r>
            <a:r>
              <a:rPr lang="en-US" dirty="0">
                <a:latin typeface="Perpetua" pitchFamily="18" charset="0"/>
              </a:rPr>
              <a:t> E, </a:t>
            </a:r>
            <a:r>
              <a:rPr lang="en-US" dirty="0" err="1">
                <a:latin typeface="Perpetua" pitchFamily="18" charset="0"/>
              </a:rPr>
              <a:t>Arome</a:t>
            </a:r>
            <a:r>
              <a:rPr lang="en-US" dirty="0">
                <a:latin typeface="Perpetua" pitchFamily="18" charset="0"/>
              </a:rPr>
              <a:t> D, </a:t>
            </a:r>
            <a:r>
              <a:rPr lang="en-US" dirty="0" err="1">
                <a:latin typeface="Perpetua" pitchFamily="18" charset="0"/>
              </a:rPr>
              <a:t>Ameh</a:t>
            </a:r>
            <a:r>
              <a:rPr lang="en-US" dirty="0">
                <a:latin typeface="Perpetua" pitchFamily="18" charset="0"/>
              </a:rPr>
              <a:t> FS. A new method for determining acute toxicity in animal models. </a:t>
            </a:r>
            <a:r>
              <a:rPr lang="en-US" dirty="0" err="1">
                <a:latin typeface="Perpetua" pitchFamily="18" charset="0"/>
              </a:rPr>
              <a:t>Toxicol</a:t>
            </a:r>
            <a:r>
              <a:rPr lang="en-US" dirty="0">
                <a:latin typeface="Perpetua" pitchFamily="18" charset="0"/>
              </a:rPr>
              <a:t> Int. 2013;20(3):224-226. doi:10.4103/0971-6580.121674</a:t>
            </a:r>
            <a:endParaRPr lang="en-US" dirty="0" smtClean="0">
              <a:latin typeface="Perpetua" pitchFamily="18" charset="0"/>
            </a:endParaRPr>
          </a:p>
          <a:p>
            <a:endParaRPr lang="en-US" dirty="0">
              <a:latin typeface="Perpetua"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a:xfrm>
            <a:off x="457200" y="1600200"/>
            <a:ext cx="8458200" cy="4876800"/>
          </a:xfrm>
        </p:spPr>
        <p:txBody>
          <a:bodyPr>
            <a:normAutofit/>
          </a:bodyPr>
          <a:lstStyle/>
          <a:p>
            <a:r>
              <a:rPr lang="en-US" dirty="0" err="1">
                <a:latin typeface="Perpetua" pitchFamily="18" charset="0"/>
              </a:rPr>
              <a:t>Maheshwari</a:t>
            </a:r>
            <a:r>
              <a:rPr lang="en-US" dirty="0">
                <a:latin typeface="Perpetua" pitchFamily="18" charset="0"/>
              </a:rPr>
              <a:t> DG, </a:t>
            </a:r>
            <a:r>
              <a:rPr lang="en-US" dirty="0" err="1">
                <a:latin typeface="Perpetua" pitchFamily="18" charset="0"/>
              </a:rPr>
              <a:t>Shaikh</a:t>
            </a:r>
            <a:r>
              <a:rPr lang="en-US" dirty="0">
                <a:latin typeface="Perpetua" pitchFamily="18" charset="0"/>
              </a:rPr>
              <a:t> NK. An overview on toxicity testing method. </a:t>
            </a:r>
            <a:r>
              <a:rPr lang="en-US" dirty="0" err="1">
                <a:latin typeface="Perpetua" pitchFamily="18" charset="0"/>
              </a:rPr>
              <a:t>Int</a:t>
            </a:r>
            <a:r>
              <a:rPr lang="en-US" dirty="0">
                <a:latin typeface="Perpetua" pitchFamily="18" charset="0"/>
              </a:rPr>
              <a:t> J Pharm Technol. 2016;8(2):3834–3849</a:t>
            </a:r>
            <a:r>
              <a:rPr lang="en-US" dirty="0" smtClean="0">
                <a:latin typeface="Perpetua" pitchFamily="18" charset="0"/>
              </a:rPr>
              <a:t>.</a:t>
            </a:r>
            <a:endParaRPr lang="en-US" dirty="0">
              <a:latin typeface="Perpetua" pitchFamily="18" charset="0"/>
            </a:endParaRPr>
          </a:p>
          <a:p>
            <a:r>
              <a:rPr lang="en-US" dirty="0" err="1">
                <a:latin typeface="Perpetua" pitchFamily="18" charset="0"/>
              </a:rPr>
              <a:t>Saganuwan</a:t>
            </a:r>
            <a:r>
              <a:rPr lang="en-US" dirty="0">
                <a:latin typeface="Perpetua" pitchFamily="18" charset="0"/>
              </a:rPr>
              <a:t> SA. Toxicity study of drugs and chemicals in animals: An overview. BJVM. 2016. ISSN 1311-1477</a:t>
            </a:r>
            <a:r>
              <a:rPr lang="en-US" dirty="0" smtClean="0">
                <a:latin typeface="Perpetua" pitchFamily="18" charset="0"/>
              </a:rPr>
              <a:t>.</a:t>
            </a:r>
            <a:endParaRPr lang="en-US" dirty="0" smtClean="0">
              <a:latin typeface="Perpetua" pitchFamily="18" charset="0"/>
            </a:endParaRPr>
          </a:p>
          <a:p>
            <a:r>
              <a:rPr lang="en-US" dirty="0" err="1" smtClean="0">
                <a:latin typeface="Perpetua" pitchFamily="18" charset="0"/>
              </a:rPr>
              <a:t>Barile</a:t>
            </a:r>
            <a:r>
              <a:rPr lang="en-US" dirty="0" smtClean="0">
                <a:latin typeface="Perpetua" pitchFamily="18" charset="0"/>
              </a:rPr>
              <a:t> FA. Principles of toxicology testing. CRC Press Taylor &amp; Francis Group, LLC. ISBN-13: 978-0-8493-9025, 2008.</a:t>
            </a:r>
            <a:endParaRPr lang="en-US"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normAutofit/>
          </a:bodyPr>
          <a:lstStyle/>
          <a:p>
            <a:r>
              <a:rPr lang="en-US" dirty="0" smtClean="0">
                <a:latin typeface="Perpetua" pitchFamily="18" charset="0"/>
              </a:rPr>
              <a:t>ICCVAM. </a:t>
            </a:r>
            <a:r>
              <a:rPr lang="en-US" dirty="0">
                <a:latin typeface="Perpetua" pitchFamily="18" charset="0"/>
              </a:rPr>
              <a:t>Test Method Evaluation Report – In Vitro Ocular Toxicity Test Methods for Identifying Ocular Severe Irritants and Corrosives. Interagency Coordinating Committee on the Validation of Alternative Methods (ICCVAM) and the National Toxicology Program (NTP) Interagency Center for the Evaluation of Alternative Toxicological Methods (NICEATM) 2006. NIH Publication No</a:t>
            </a:r>
            <a:r>
              <a:rPr lang="en-US" dirty="0" smtClean="0">
                <a:latin typeface="Perpetua" pitchFamily="18" charset="0"/>
              </a:rPr>
              <a:t>. </a:t>
            </a:r>
            <a:r>
              <a:rPr lang="en-US" dirty="0">
                <a:latin typeface="Perpetua" pitchFamily="18" charset="0"/>
              </a:rPr>
              <a:t>07-4517. </a:t>
            </a:r>
            <a:endParaRPr lang="en-US" dirty="0" smtClean="0">
              <a:latin typeface="Perpetua"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Perpetua" pitchFamily="18" charset="0"/>
              </a:rPr>
              <a:t>Cont’d</a:t>
            </a:r>
            <a:endParaRPr lang="en-US" b="1" dirty="0">
              <a:latin typeface="Perpetua" pitchFamily="18" charset="0"/>
            </a:endParaRPr>
          </a:p>
        </p:txBody>
      </p:sp>
      <p:sp>
        <p:nvSpPr>
          <p:cNvPr id="3" name="Content Placeholder 2"/>
          <p:cNvSpPr>
            <a:spLocks noGrp="1"/>
          </p:cNvSpPr>
          <p:nvPr>
            <p:ph idx="1"/>
          </p:nvPr>
        </p:nvSpPr>
        <p:spPr/>
        <p:txBody>
          <a:bodyPr/>
          <a:lstStyle/>
          <a:p>
            <a:r>
              <a:rPr lang="en-US" dirty="0" smtClean="0">
                <a:latin typeface="Perpetua" pitchFamily="18" charset="0"/>
              </a:rPr>
              <a:t>ICCVAM. </a:t>
            </a:r>
            <a:r>
              <a:rPr lang="en-US" dirty="0" err="1">
                <a:latin typeface="Perpetua" pitchFamily="18" charset="0"/>
              </a:rPr>
              <a:t>Corrositex</a:t>
            </a:r>
            <a:r>
              <a:rPr lang="en-US" dirty="0" smtClean="0">
                <a:latin typeface="Perpetua" pitchFamily="18" charset="0"/>
              </a:rPr>
              <a:t>®. </a:t>
            </a:r>
            <a:r>
              <a:rPr lang="en-US" dirty="0">
                <a:latin typeface="Perpetua" pitchFamily="18" charset="0"/>
              </a:rPr>
              <a:t>An In Vitro Test Method for Assessing Dermal </a:t>
            </a:r>
            <a:r>
              <a:rPr lang="en-US" dirty="0" err="1">
                <a:latin typeface="Perpetua" pitchFamily="18" charset="0"/>
              </a:rPr>
              <a:t>Corrosivity</a:t>
            </a:r>
            <a:r>
              <a:rPr lang="en-US" dirty="0">
                <a:latin typeface="Perpetua" pitchFamily="18" charset="0"/>
              </a:rPr>
              <a:t> Potential of Chemicals. The Results of an Independent Peer Review Evaluation Coordinated by ICCVAM, NTP and NICEATM. 1999. Publication (No. 99-4495.)</a:t>
            </a:r>
            <a:endParaRPr lang="en-US" dirty="0">
              <a:latin typeface="Perpetua" pitchFamily="18" charset="0"/>
            </a:endParaRP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1"/>
          <p:cNvSpPr>
            <a:spLocks noGrp="1"/>
          </p:cNvSpPr>
          <p:nvPr>
            <p:ph idx="1"/>
          </p:nvPr>
        </p:nvSpPr>
        <p:spPr>
          <a:xfrm>
            <a:off x="1371600" y="2057400"/>
            <a:ext cx="6348413" cy="2514600"/>
          </a:xfrm>
        </p:spPr>
        <p:txBody>
          <a:bodyPr>
            <a:normAutofit fontScale="70000" lnSpcReduction="20000"/>
          </a:bodyPr>
          <a:lstStyle/>
          <a:p>
            <a:pPr marL="0" indent="0" algn="ctr" rtl="0">
              <a:buFont typeface="Wingdings 3" panose="05040102010807070707" pitchFamily="18" charset="2"/>
              <a:buNone/>
            </a:pPr>
            <a:r>
              <a:rPr lang="en-US" altLang="en-US" sz="6000" i="1" dirty="0" smtClean="0">
                <a:latin typeface="Times New Roman" panose="02020503050405090304" pitchFamily="18" charset="0"/>
                <a:cs typeface="Times New Roman" panose="02020503050405090304" pitchFamily="18" charset="0"/>
              </a:rPr>
              <a:t>Thank you for your attention</a:t>
            </a:r>
            <a:endParaRPr lang="en-US" altLang="en-US" sz="6000" i="1" dirty="0" smtClean="0">
              <a:latin typeface="Times New Roman" panose="02020503050405090304" pitchFamily="18" charset="0"/>
              <a:cs typeface="Times New Roman" panose="02020503050405090304" pitchFamily="18" charset="0"/>
            </a:endParaRPr>
          </a:p>
          <a:p>
            <a:pPr marL="0" indent="0" algn="ctr" rtl="0">
              <a:buFont typeface="Wingdings 3" panose="05040102010807070707" pitchFamily="18" charset="2"/>
              <a:buNone/>
            </a:pPr>
            <a:endParaRPr lang="en-US" altLang="en-US" sz="6000" i="1" dirty="0">
              <a:latin typeface="Times New Roman" panose="02020503050405090304" pitchFamily="18" charset="0"/>
              <a:cs typeface="Times New Roman" panose="02020503050405090304" pitchFamily="18" charset="0"/>
            </a:endParaRPr>
          </a:p>
          <a:p>
            <a:pPr marL="0" indent="0" algn="ctr" rtl="0">
              <a:buFont typeface="Wingdings 3" panose="05040102010807070707" pitchFamily="18" charset="2"/>
              <a:buNone/>
            </a:pPr>
            <a:r>
              <a:rPr lang="en-US" altLang="en-US" sz="6000" i="1" dirty="0" smtClean="0">
                <a:latin typeface="Times New Roman" panose="02020503050405090304" pitchFamily="18" charset="0"/>
                <a:cs typeface="Times New Roman" panose="02020503050405090304" pitchFamily="18" charset="0"/>
              </a:rPr>
              <a:t>Questions?</a:t>
            </a:r>
            <a:endParaRPr lang="en-US" altLang="en-US" sz="6000" i="1" dirty="0" smtClean="0">
              <a:latin typeface="Times New Roman" panose="02020503050405090304" pitchFamily="18" charset="0"/>
              <a:cs typeface="Times New Roman" panose="02020503050405090304" pitchFamily="18" charset="0"/>
            </a:endParaRPr>
          </a:p>
          <a:p>
            <a:pPr marL="0" indent="0" algn="ctr" rtl="0">
              <a:buFont typeface="Wingdings 3" panose="05040102010807070707" pitchFamily="18" charset="2"/>
              <a:buNone/>
            </a:pPr>
            <a:endParaRPr lang="ar-SA" altLang="en-US" i="1" dirty="0" smtClean="0">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9875</Words>
  <Application>WPS Spreadsheets</Application>
  <PresentationFormat>On-screen Show (4:3)</PresentationFormat>
  <Paragraphs>262</Paragraphs>
  <Slides>34</Slides>
  <Notes>1</Notes>
  <HiddenSlides>8</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Perpetua</vt:lpstr>
      <vt:lpstr>苹方-简</vt:lpstr>
      <vt:lpstr>Microsoft YaHei</vt:lpstr>
      <vt:lpstr>汉仪旗黑</vt:lpstr>
      <vt:lpstr>Arial Unicode MS</vt:lpstr>
      <vt:lpstr>Calibri</vt:lpstr>
      <vt:lpstr>Wingdings 3</vt:lpstr>
      <vt:lpstr>Times New Roman</vt:lpstr>
      <vt:lpstr>宋体-简</vt:lpstr>
      <vt:lpstr>Office Theme</vt:lpstr>
      <vt:lpstr>PHA 315   ACUTE TOXIC EFFECTS OF SUBSTANCES</vt:lpstr>
      <vt:lpstr>Outline</vt:lpstr>
      <vt:lpstr>Definition</vt:lpstr>
      <vt:lpstr>Objectives of ATox</vt:lpstr>
      <vt:lpstr>Cont’d</vt:lpstr>
      <vt:lpstr>Considerations in ATox</vt:lpstr>
      <vt:lpstr>Median lethal dose (LD50 ) and ATox</vt:lpstr>
      <vt:lpstr>Cont’d</vt:lpstr>
      <vt:lpstr>Asymmetrical relationship between LD50 and ATox</vt:lpstr>
      <vt:lpstr>Imperatives for LD50 studies</vt:lpstr>
      <vt:lpstr>Cont’d</vt:lpstr>
      <vt:lpstr>Methods for determination of ATox</vt:lpstr>
      <vt:lpstr>Cont’d</vt:lpstr>
      <vt:lpstr>Cont’d</vt:lpstr>
      <vt:lpstr>Cont’d</vt:lpstr>
      <vt:lpstr>Cont’d</vt:lpstr>
      <vt:lpstr>Cont’d</vt:lpstr>
      <vt:lpstr>Cont’d</vt:lpstr>
      <vt:lpstr>Cont’d</vt:lpstr>
      <vt:lpstr>Cont’d</vt:lpstr>
      <vt:lpstr>Cont’d</vt:lpstr>
      <vt:lpstr>Oral ATox</vt:lpstr>
      <vt:lpstr>Cont’d</vt:lpstr>
      <vt:lpstr>Ocular ATox</vt:lpstr>
      <vt:lpstr>Dermal ATox</vt:lpstr>
      <vt:lpstr>Cont’d</vt:lpstr>
      <vt:lpstr>Inhalation ATox</vt:lpstr>
      <vt:lpstr>Cont’d</vt:lpstr>
      <vt:lpstr>Application of LD50 in Atox studies</vt:lpstr>
      <vt:lpstr>References for further reading</vt:lpstr>
      <vt:lpstr>Cont’d</vt:lpstr>
      <vt:lpstr>Cont’d</vt:lpstr>
      <vt:lpstr>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 315   ACUTE TOXIC EFFECTS OF SUBSTANCES</dc:title>
  <dc:creator>IFEOLUWA</dc:creator>
  <cp:lastModifiedBy>Tolu Odunewu</cp:lastModifiedBy>
  <cp:revision>69</cp:revision>
  <dcterms:created xsi:type="dcterms:W3CDTF">2025-08-29T08:56:07Z</dcterms:created>
  <dcterms:modified xsi:type="dcterms:W3CDTF">2025-08-29T08:56:07Z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3E828ED646F2FE1B276BB168F1CDAEA1_42</vt:lpwstr>
  </property>
  <property fmtid="{D5CDD505-2E9C-101B-9397-08002B2CF9AE}" pid="3" name="KSOProductBuildVer">
    <vt:lpwstr>1033-12.1.21937.21937</vt:lpwstr>
  </property>
</Properties>
</file>